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34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5698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complete Simulink + Stateflow HEV model, not just a control block.
Emphasize that this presentation follows the latest corrected model and the final documentation.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short map of the talk. Mention that the deck is built for viva-style explanation: objective, model architecture, subsystem design, results, limitations.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project objective clearly. This is not a detailed production-calibrated vehicle, but it has all major HEV signal paths and control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the full signal flow. Point out that feedback_v_veh closes the loop back to control.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control subsystem left to right. Mention ds_select chooses one of six drive cycles. DriverPI generates T_req and brake_sig. Stateflow decides the operating mode. Torque_Split_Dynamic computes the commands.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control slide. Explain standby, regen, series, parallel and series-parallel modes. Emphasize that entry actions produce Engine_Cmd, Clutch_Cmd and Gen_Load.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closed-loop explanation. The speed plot is for Drive Cycle 2. The PI driver generates torque when actual speed is below the reference.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generator charging is active if the graph shows zero. Say the Drive Cycle 2 result mostly uses motor torque and shows a decreasing SOC trend.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BatteryECM is a 1RC equivalent circuit model. It is discrete in the latest model: SOC_new and V_RC_new are fed back through delay blocks.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lookup table and the role of dynamic saturation. Motor_control is a protection layer, not the EMS brain.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Gen_Load gating and generator torque saturation. Mention eta is now connected in the latest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physical components: generic engine, clutch, motor/generator torque sources, gears, tire and vehicle body.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feedback. The engine sensor produces speed and power information, which is important for generator and control blocks.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through the plots. Emphasize that these are Drive Cycle 2 results. Be honest that engine/generator are almost inactive in these results.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energy behavior. Motor power tracks acceleration demand. Battery voltage stays within limits. Mode/command scopes are useful for debugging Stateflow decisions.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current status. Mention corrections made from latest model and the remaining unit-consistency check.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limitations. This is appreciated in viva because it shows engineering judgment. Future upgrades should include unit checks, efficiency maps and multiple drive cycles.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with the closed-loop story. Invite questions. If asked about the most important block, say the control subsystem and Stateflow EMS.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8.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Shape 1"/>
          <p:cNvSpPr/>
          <p:nvPr/>
        </p:nvSpPr>
        <p:spPr>
          <a:xfrm>
            <a:off x="109728" y="0"/>
            <a:ext cx="12191695" cy="6858000"/>
          </a:xfrm>
          <a:prstGeom prst="rect">
            <a:avLst/>
          </a:prstGeom>
          <a:solidFill>
            <a:srgbClr val="F3F6FB"/>
          </a:solidFill>
          <a:ln w="12700">
            <a:solidFill>
              <a:srgbClr val="333333">
                <a:alpha val="0"/>
              </a:srgbClr>
            </a:solidFill>
            <a:prstDash val="solid"/>
          </a:ln>
        </p:spPr>
        <p:txBody>
          <a:bodyPr/>
          <a:lstStyle/>
          <a:p>
            <a:endParaRPr/>
          </a:p>
        </p:txBody>
      </p:sp>
      <p:pic>
        <p:nvPicPr>
          <p:cNvPr id="4" name="Image 0" descr="/mnt/data/ppt_assets/top_level.png"/>
          <p:cNvPicPr>
            <a:picLocks noChangeAspect="1"/>
          </p:cNvPicPr>
          <p:nvPr/>
        </p:nvPicPr>
        <p:blipFill>
          <a:blip r:embed="rId3"/>
          <a:stretch>
            <a:fillRect/>
          </a:stretch>
        </p:blipFill>
        <p:spPr>
          <a:xfrm>
            <a:off x="2540438" y="2771303"/>
            <a:ext cx="7335011" cy="3652560"/>
          </a:xfrm>
          <a:prstGeom prst="rect">
            <a:avLst/>
          </a:prstGeom>
        </p:spPr>
      </p:pic>
      <p:sp>
        <p:nvSpPr>
          <p:cNvPr id="6" name="Text 2"/>
          <p:cNvSpPr/>
          <p:nvPr/>
        </p:nvSpPr>
        <p:spPr>
          <a:xfrm>
            <a:off x="444085" y="146304"/>
            <a:ext cx="11303830" cy="1417320"/>
          </a:xfrm>
          <a:prstGeom prst="rect">
            <a:avLst/>
          </a:prstGeom>
          <a:noFill/>
          <a:ln/>
        </p:spPr>
        <p:txBody>
          <a:bodyPr wrap="square" lIns="0" tIns="0" rIns="0" bIns="0" rtlCol="0" anchor="ctr">
            <a:normAutofit/>
          </a:bodyPr>
          <a:lstStyle/>
          <a:p>
            <a:pPr marL="0" indent="0" algn="ctr">
              <a:buNone/>
            </a:pPr>
            <a:r>
              <a:rPr lang="en-US" sz="3400" b="1" dirty="0">
                <a:solidFill>
                  <a:srgbClr val="172A45"/>
                </a:solidFill>
              </a:rPr>
              <a:t>Design and Simulation of a Series-Parallel Hybrid Electric Vehicle (HEV) Using MATLAB Simulink and Stateflow</a:t>
            </a:r>
            <a:endParaRPr lang="en-US" sz="3400" dirty="0"/>
          </a:p>
        </p:txBody>
      </p:sp>
      <p:sp>
        <p:nvSpPr>
          <p:cNvPr id="7" name="Text 3"/>
          <p:cNvSpPr/>
          <p:nvPr/>
        </p:nvSpPr>
        <p:spPr>
          <a:xfrm>
            <a:off x="5349380" y="1239767"/>
            <a:ext cx="1493240" cy="1196354"/>
          </a:xfrm>
          <a:prstGeom prst="rect">
            <a:avLst/>
          </a:prstGeom>
          <a:noFill/>
          <a:ln/>
        </p:spPr>
        <p:txBody>
          <a:bodyPr wrap="square" lIns="0" tIns="0" rIns="0" bIns="0" rtlCol="0" anchor="ctr"/>
          <a:lstStyle/>
          <a:p>
            <a:pPr marL="0" indent="0">
              <a:buNone/>
            </a:pPr>
            <a:r>
              <a:rPr lang="en-US" sz="1800" b="1" dirty="0">
                <a:solidFill>
                  <a:srgbClr val="2A6FBB"/>
                </a:solidFill>
              </a:rPr>
              <a:t>KPIT Apex Lab</a:t>
            </a:r>
            <a:endParaRPr lang="en-US" sz="1800" dirty="0"/>
          </a:p>
        </p:txBody>
      </p:sp>
      <p:sp>
        <p:nvSpPr>
          <p:cNvPr id="8" name="Text 4"/>
          <p:cNvSpPr/>
          <p:nvPr/>
        </p:nvSpPr>
        <p:spPr>
          <a:xfrm>
            <a:off x="2810312" y="1948343"/>
            <a:ext cx="6912528" cy="822960"/>
          </a:xfrm>
          <a:prstGeom prst="rect">
            <a:avLst/>
          </a:prstGeom>
          <a:noFill/>
          <a:ln/>
        </p:spPr>
        <p:txBody>
          <a:bodyPr wrap="square" lIns="73152" tIns="36576" rIns="73152" bIns="36576" rtlCol="0" anchor="ctr">
            <a:normAutofit/>
          </a:bodyPr>
          <a:lstStyle/>
          <a:p>
            <a:pPr marL="0" indent="0" algn="ctr">
              <a:buNone/>
            </a:pPr>
            <a:r>
              <a:rPr sz="1300" b="0" dirty="0">
                <a:solidFill>
                  <a:srgbClr val="212D3C"/>
                </a:solidFill>
                <a:latin typeface="Aptos"/>
              </a:rPr>
              <a:t>Raj </a:t>
            </a:r>
            <a:r>
              <a:rPr sz="1300" b="0" dirty="0" err="1">
                <a:solidFill>
                  <a:srgbClr val="212D3C"/>
                </a:solidFill>
                <a:latin typeface="Aptos"/>
              </a:rPr>
              <a:t>Sawala</a:t>
            </a:r>
            <a:r>
              <a:rPr sz="1300" b="0" dirty="0">
                <a:solidFill>
                  <a:srgbClr val="212D3C"/>
                </a:solidFill>
                <a:latin typeface="Aptos"/>
              </a:rPr>
              <a:t> | Amaan Mulla | Karan Patil</a:t>
            </a:r>
            <a:br>
              <a:rPr dirty="0"/>
            </a:br>
            <a:r>
              <a:rPr sz="1300" b="0" dirty="0">
                <a:solidFill>
                  <a:srgbClr val="212D3C"/>
                </a:solidFill>
                <a:latin typeface="Aptos"/>
              </a:rPr>
              <a:t>Mentor: Padma Dwivedi</a:t>
            </a:r>
            <a:endParaRPr lang="en-US" sz="1500" dirty="0"/>
          </a:p>
        </p:txBody>
      </p:sp>
      <p:sp>
        <p:nvSpPr>
          <p:cNvPr id="9" name="Text 5"/>
          <p:cNvSpPr/>
          <p:nvPr/>
        </p:nvSpPr>
        <p:spPr>
          <a:xfrm>
            <a:off x="612648" y="6108192"/>
            <a:ext cx="2011680" cy="201168"/>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WHAT I WILL COVER</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Presentation roadmap</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sp>
        <p:nvSpPr>
          <p:cNvPr id="6" name="Shape 4"/>
          <p:cNvSpPr/>
          <p:nvPr/>
        </p:nvSpPr>
        <p:spPr>
          <a:xfrm>
            <a:off x="2351532" y="1709928"/>
            <a:ext cx="173736" cy="0"/>
          </a:xfrm>
          <a:prstGeom prst="line">
            <a:avLst/>
          </a:prstGeom>
          <a:noFill/>
          <a:ln w="16510">
            <a:solidFill>
              <a:srgbClr val="2A6FBB"/>
            </a:solidFill>
            <a:prstDash val="solid"/>
            <a:headEnd type="none"/>
            <a:tailEnd type="triangle"/>
          </a:ln>
        </p:spPr>
        <p:txBody>
          <a:bodyPr/>
          <a:lstStyle/>
          <a:p>
            <a:endParaRPr/>
          </a:p>
        </p:txBody>
      </p:sp>
      <p:sp>
        <p:nvSpPr>
          <p:cNvPr id="7" name="Shape 5"/>
          <p:cNvSpPr/>
          <p:nvPr/>
        </p:nvSpPr>
        <p:spPr>
          <a:xfrm>
            <a:off x="4172712" y="1709928"/>
            <a:ext cx="173736" cy="0"/>
          </a:xfrm>
          <a:prstGeom prst="line">
            <a:avLst/>
          </a:prstGeom>
          <a:noFill/>
          <a:ln w="16510">
            <a:solidFill>
              <a:srgbClr val="2A6FBB"/>
            </a:solidFill>
            <a:prstDash val="solid"/>
            <a:headEnd type="none"/>
            <a:tailEnd type="triangle"/>
          </a:ln>
        </p:spPr>
        <p:txBody>
          <a:bodyPr/>
          <a:lstStyle/>
          <a:p>
            <a:endParaRPr/>
          </a:p>
        </p:txBody>
      </p:sp>
      <p:sp>
        <p:nvSpPr>
          <p:cNvPr id="8" name="Shape 6"/>
          <p:cNvSpPr/>
          <p:nvPr/>
        </p:nvSpPr>
        <p:spPr>
          <a:xfrm>
            <a:off x="5993892" y="1709928"/>
            <a:ext cx="173736" cy="0"/>
          </a:xfrm>
          <a:prstGeom prst="line">
            <a:avLst/>
          </a:prstGeom>
          <a:noFill/>
          <a:ln w="16510">
            <a:solidFill>
              <a:srgbClr val="2A6FBB"/>
            </a:solidFill>
            <a:prstDash val="solid"/>
            <a:headEnd type="none"/>
            <a:tailEnd type="triangle"/>
          </a:ln>
        </p:spPr>
        <p:txBody>
          <a:bodyPr/>
          <a:lstStyle/>
          <a:p>
            <a:endParaRPr/>
          </a:p>
        </p:txBody>
      </p:sp>
      <p:sp>
        <p:nvSpPr>
          <p:cNvPr id="9" name="Shape 7"/>
          <p:cNvSpPr/>
          <p:nvPr/>
        </p:nvSpPr>
        <p:spPr>
          <a:xfrm>
            <a:off x="7815072" y="1709928"/>
            <a:ext cx="173736" cy="0"/>
          </a:xfrm>
          <a:prstGeom prst="line">
            <a:avLst/>
          </a:prstGeom>
          <a:noFill/>
          <a:ln w="16510">
            <a:solidFill>
              <a:srgbClr val="2A6FBB"/>
            </a:solidFill>
            <a:prstDash val="solid"/>
            <a:headEnd type="none"/>
            <a:tailEnd type="triangle"/>
          </a:ln>
        </p:spPr>
        <p:txBody>
          <a:bodyPr/>
          <a:lstStyle/>
          <a:p>
            <a:endParaRPr/>
          </a:p>
        </p:txBody>
      </p:sp>
      <p:sp>
        <p:nvSpPr>
          <p:cNvPr id="10" name="Shape 8"/>
          <p:cNvSpPr/>
          <p:nvPr/>
        </p:nvSpPr>
        <p:spPr>
          <a:xfrm>
            <a:off x="9636252" y="1709928"/>
            <a:ext cx="173736" cy="0"/>
          </a:xfrm>
          <a:prstGeom prst="line">
            <a:avLst/>
          </a:prstGeom>
          <a:noFill/>
          <a:ln w="16510">
            <a:solidFill>
              <a:srgbClr val="2A6FBB"/>
            </a:solidFill>
            <a:prstDash val="solid"/>
            <a:headEnd type="none"/>
            <a:tailEnd type="triangle"/>
          </a:ln>
        </p:spPr>
        <p:txBody>
          <a:bodyPr/>
          <a:lstStyle/>
          <a:p>
            <a:endParaRPr/>
          </a:p>
        </p:txBody>
      </p:sp>
      <p:sp>
        <p:nvSpPr>
          <p:cNvPr id="11" name="Text 9"/>
          <p:cNvSpPr/>
          <p:nvPr/>
        </p:nvSpPr>
        <p:spPr>
          <a:xfrm>
            <a:off x="685800" y="1417320"/>
            <a:ext cx="1684020"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Problem</a:t>
            </a:r>
            <a:endParaRPr lang="en-US" sz="1050" dirty="0"/>
          </a:p>
          <a:p>
            <a:pPr marL="0" indent="0" algn="ctr">
              <a:buNone/>
            </a:pPr>
            <a:r>
              <a:rPr lang="en-US" sz="1050" b="1" dirty="0">
                <a:solidFill>
                  <a:srgbClr val="172A45"/>
                </a:solidFill>
              </a:rPr>
              <a:t>&amp; objective</a:t>
            </a:r>
            <a:endParaRPr lang="en-US" sz="1050" dirty="0"/>
          </a:p>
        </p:txBody>
      </p:sp>
      <p:sp>
        <p:nvSpPr>
          <p:cNvPr id="12" name="Text 10"/>
          <p:cNvSpPr/>
          <p:nvPr/>
        </p:nvSpPr>
        <p:spPr>
          <a:xfrm>
            <a:off x="2506980" y="1417320"/>
            <a:ext cx="1684020"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HEV system</a:t>
            </a:r>
            <a:endParaRPr lang="en-US" sz="1050" dirty="0"/>
          </a:p>
          <a:p>
            <a:pPr marL="0" indent="0" algn="ctr">
              <a:buNone/>
            </a:pPr>
            <a:r>
              <a:rPr lang="en-US" sz="1050" b="1" dirty="0">
                <a:solidFill>
                  <a:srgbClr val="172A45"/>
                </a:solidFill>
              </a:rPr>
              <a:t>architecture</a:t>
            </a:r>
            <a:endParaRPr lang="en-US" sz="1050" dirty="0"/>
          </a:p>
        </p:txBody>
      </p:sp>
      <p:sp>
        <p:nvSpPr>
          <p:cNvPr id="13" name="Text 11"/>
          <p:cNvSpPr/>
          <p:nvPr/>
        </p:nvSpPr>
        <p:spPr>
          <a:xfrm>
            <a:off x="4328160" y="1417320"/>
            <a:ext cx="1684020"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Subsystem</a:t>
            </a:r>
            <a:endParaRPr lang="en-US" sz="1050" dirty="0"/>
          </a:p>
          <a:p>
            <a:pPr marL="0" indent="0" algn="ctr">
              <a:buNone/>
            </a:pPr>
            <a:r>
              <a:rPr lang="en-US" sz="1050" b="1" dirty="0">
                <a:solidFill>
                  <a:srgbClr val="172A45"/>
                </a:solidFill>
              </a:rPr>
              <a:t>design</a:t>
            </a:r>
            <a:endParaRPr lang="en-US" sz="1050" dirty="0"/>
          </a:p>
        </p:txBody>
      </p:sp>
      <p:sp>
        <p:nvSpPr>
          <p:cNvPr id="14" name="Text 12"/>
          <p:cNvSpPr/>
          <p:nvPr/>
        </p:nvSpPr>
        <p:spPr>
          <a:xfrm>
            <a:off x="6149340" y="1417320"/>
            <a:ext cx="1684020"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Control +</a:t>
            </a:r>
            <a:endParaRPr lang="en-US" sz="1050" dirty="0"/>
          </a:p>
          <a:p>
            <a:pPr marL="0" indent="0" algn="ctr">
              <a:buNone/>
            </a:pPr>
            <a:r>
              <a:rPr lang="en-US" sz="1050" b="1" dirty="0">
                <a:solidFill>
                  <a:srgbClr val="172A45"/>
                </a:solidFill>
              </a:rPr>
              <a:t>Stateflow EMS</a:t>
            </a:r>
            <a:endParaRPr lang="en-US" sz="1050" dirty="0"/>
          </a:p>
        </p:txBody>
      </p:sp>
      <p:sp>
        <p:nvSpPr>
          <p:cNvPr id="15" name="Text 13"/>
          <p:cNvSpPr/>
          <p:nvPr/>
        </p:nvSpPr>
        <p:spPr>
          <a:xfrm>
            <a:off x="7970520" y="1417320"/>
            <a:ext cx="1684020"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Simulation</a:t>
            </a:r>
            <a:endParaRPr lang="en-US" sz="1050" dirty="0"/>
          </a:p>
          <a:p>
            <a:pPr marL="0" indent="0" algn="ctr">
              <a:buNone/>
            </a:pPr>
            <a:r>
              <a:rPr lang="en-US" sz="1050" b="1" dirty="0">
                <a:solidFill>
                  <a:srgbClr val="172A45"/>
                </a:solidFill>
              </a:rPr>
              <a:t>results</a:t>
            </a:r>
            <a:endParaRPr lang="en-US" sz="1050" dirty="0"/>
          </a:p>
        </p:txBody>
      </p:sp>
      <p:sp>
        <p:nvSpPr>
          <p:cNvPr id="16" name="Text 14"/>
          <p:cNvSpPr/>
          <p:nvPr/>
        </p:nvSpPr>
        <p:spPr>
          <a:xfrm>
            <a:off x="9791700" y="1417320"/>
            <a:ext cx="1684020"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Limitations +</a:t>
            </a:r>
            <a:endParaRPr lang="en-US" sz="1050" dirty="0"/>
          </a:p>
          <a:p>
            <a:pPr marL="0" indent="0" algn="ctr">
              <a:buNone/>
            </a:pPr>
            <a:r>
              <a:rPr lang="en-US" sz="1050" b="1" dirty="0">
                <a:solidFill>
                  <a:srgbClr val="172A45"/>
                </a:solidFill>
              </a:rPr>
              <a:t>upgrades</a:t>
            </a:r>
            <a:endParaRPr lang="en-US" sz="1050" dirty="0"/>
          </a:p>
        </p:txBody>
      </p:sp>
      <p:pic>
        <p:nvPicPr>
          <p:cNvPr id="17" name="Image 0" descr="/mnt/data/ppt_assets/top_level.png"/>
          <p:cNvPicPr>
            <a:picLocks noChangeAspect="1"/>
          </p:cNvPicPr>
          <p:nvPr/>
        </p:nvPicPr>
        <p:blipFill>
          <a:blip r:embed="rId3"/>
          <a:stretch>
            <a:fillRect/>
          </a:stretch>
        </p:blipFill>
        <p:spPr>
          <a:xfrm>
            <a:off x="731520" y="2519630"/>
            <a:ext cx="4937760" cy="2458819"/>
          </a:xfrm>
          <a:prstGeom prst="rect">
            <a:avLst/>
          </a:prstGeom>
        </p:spPr>
      </p:pic>
      <p:sp>
        <p:nvSpPr>
          <p:cNvPr id="18" name="Text 15"/>
          <p:cNvSpPr/>
          <p:nvPr/>
        </p:nvSpPr>
        <p:spPr>
          <a:xfrm>
            <a:off x="731520" y="5129784"/>
            <a:ext cx="493776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Top-level Simulink model</a:t>
            </a:r>
            <a:endParaRPr lang="en-US" sz="850" dirty="0"/>
          </a:p>
        </p:txBody>
      </p:sp>
      <p:pic>
        <p:nvPicPr>
          <p:cNvPr id="19" name="Image 1" descr="/mnt/data/ppt_assets/scope_torque.png"/>
          <p:cNvPicPr>
            <a:picLocks noChangeAspect="1"/>
          </p:cNvPicPr>
          <p:nvPr/>
        </p:nvPicPr>
        <p:blipFill>
          <a:blip r:embed="rId4"/>
          <a:stretch>
            <a:fillRect/>
          </a:stretch>
        </p:blipFill>
        <p:spPr>
          <a:xfrm>
            <a:off x="6172200" y="2608807"/>
            <a:ext cx="5349240" cy="2280465"/>
          </a:xfrm>
          <a:prstGeom prst="rect">
            <a:avLst/>
          </a:prstGeom>
        </p:spPr>
      </p:pic>
      <p:sp>
        <p:nvSpPr>
          <p:cNvPr id="20" name="Text 16"/>
          <p:cNvSpPr/>
          <p:nvPr/>
        </p:nvSpPr>
        <p:spPr>
          <a:xfrm>
            <a:off x="6172200" y="5129784"/>
            <a:ext cx="534924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Drive Cycle 2 result window</a:t>
            </a:r>
            <a:endParaRPr lang="en-US" sz="850" dirty="0"/>
          </a:p>
        </p:txBody>
      </p:sp>
      <p:sp>
        <p:nvSpPr>
          <p:cNvPr id="21" name="Text 17"/>
          <p:cNvSpPr/>
          <p:nvPr/>
        </p:nvSpPr>
        <p:spPr>
          <a:xfrm>
            <a:off x="1097280" y="5669280"/>
            <a:ext cx="9875520" cy="502920"/>
          </a:xfrm>
          <a:prstGeom prst="rect">
            <a:avLst/>
          </a:prstGeom>
          <a:noFill/>
          <a:ln/>
        </p:spPr>
        <p:txBody>
          <a:bodyPr wrap="square" lIns="381" tIns="381" rIns="381" bIns="381" rtlCol="0" anchor="t">
            <a:normAutofit/>
          </a:bodyPr>
          <a:lstStyle/>
          <a:p>
            <a:pPr marL="0" indent="0" algn="ctr">
              <a:buNone/>
            </a:pPr>
            <a:r>
              <a:rPr lang="en-US" sz="1500" dirty="0">
                <a:solidFill>
                  <a:srgbClr val="1D2433"/>
                </a:solidFill>
                <a:latin typeface="Aptos" pitchFamily="34" charset="0"/>
                <a:ea typeface="Aptos" pitchFamily="34" charset="-122"/>
                <a:cs typeface="Aptos" pitchFamily="34" charset="-120"/>
              </a:rPr>
              <a:t>Focus of presentation: explain how driver demand, battery SOC, engine/generator operation, motor torque limiting and the Simscape physical plant interact in closed loop.</a:t>
            </a:r>
            <a:endParaRPr lang="en-US" sz="1500" dirty="0"/>
          </a:p>
        </p:txBody>
      </p:sp>
      <p:sp>
        <p:nvSpPr>
          <p:cNvPr id="22" name="Shape 18"/>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23" name="Text 19"/>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24" name="Text 20"/>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01</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WHY THIS MODEL WAS BUILT</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Project objective</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top_level.png"/>
          <p:cNvPicPr>
            <a:picLocks noChangeAspect="1"/>
          </p:cNvPicPr>
          <p:nvPr/>
        </p:nvPicPr>
        <p:blipFill>
          <a:blip r:embed="rId3"/>
          <a:stretch>
            <a:fillRect/>
          </a:stretch>
        </p:blipFill>
        <p:spPr>
          <a:xfrm>
            <a:off x="5715000" y="1990210"/>
            <a:ext cx="5852160" cy="2914156"/>
          </a:xfrm>
          <a:prstGeom prst="rect">
            <a:avLst/>
          </a:prstGeom>
        </p:spPr>
      </p:pic>
      <p:sp>
        <p:nvSpPr>
          <p:cNvPr id="7" name="Text 4"/>
          <p:cNvSpPr/>
          <p:nvPr/>
        </p:nvSpPr>
        <p:spPr>
          <a:xfrm>
            <a:off x="685800" y="1371600"/>
            <a:ext cx="4480560" cy="228600"/>
          </a:xfrm>
          <a:prstGeom prst="rect">
            <a:avLst/>
          </a:prstGeom>
          <a:noFill/>
          <a:ln/>
        </p:spPr>
        <p:txBody>
          <a:bodyPr wrap="square" lIns="381" tIns="381" rIns="381" bIns="381" rtlCol="0" anchor="ctr">
            <a:normAutofit/>
          </a:bodyPr>
          <a:lstStyle/>
          <a:p>
            <a:pPr marL="0" indent="0">
              <a:buNone/>
            </a:pPr>
            <a:r>
              <a:rPr lang="en-US" sz="1300" b="1" dirty="0">
                <a:solidFill>
                  <a:srgbClr val="2A6FBB"/>
                </a:solidFill>
              </a:rPr>
              <a:t>Main objective</a:t>
            </a:r>
            <a:endParaRPr lang="en-US" sz="1300" dirty="0"/>
          </a:p>
        </p:txBody>
      </p:sp>
      <p:sp>
        <p:nvSpPr>
          <p:cNvPr id="8" name="Text 5"/>
          <p:cNvSpPr/>
          <p:nvPr/>
        </p:nvSpPr>
        <p:spPr>
          <a:xfrm>
            <a:off x="685800" y="1673352"/>
            <a:ext cx="4480560" cy="65836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Build a series-parallel HEV simulation that combines control logic, electrical energy flow and physical vehicle dynamics.</a:t>
            </a:r>
            <a:endParaRPr lang="en-US" sz="1150" dirty="0"/>
          </a:p>
        </p:txBody>
      </p:sp>
      <p:sp>
        <p:nvSpPr>
          <p:cNvPr id="9" name="Text 6"/>
          <p:cNvSpPr/>
          <p:nvPr/>
        </p:nvSpPr>
        <p:spPr>
          <a:xfrm>
            <a:off x="685800" y="2606040"/>
            <a:ext cx="4480560" cy="228600"/>
          </a:xfrm>
          <a:prstGeom prst="rect">
            <a:avLst/>
          </a:prstGeom>
          <a:noFill/>
          <a:ln/>
        </p:spPr>
        <p:txBody>
          <a:bodyPr wrap="square" lIns="381" tIns="381" rIns="381" bIns="381" rtlCol="0" anchor="ctr">
            <a:normAutofit/>
          </a:bodyPr>
          <a:lstStyle/>
          <a:p>
            <a:pPr marL="0" indent="0">
              <a:buNone/>
            </a:pPr>
            <a:r>
              <a:rPr lang="en-US" sz="1300" b="1" dirty="0">
                <a:solidFill>
                  <a:srgbClr val="02A676"/>
                </a:solidFill>
              </a:rPr>
              <a:t>Modeling aim</a:t>
            </a:r>
            <a:endParaRPr lang="en-US" sz="1300" dirty="0"/>
          </a:p>
        </p:txBody>
      </p:sp>
      <p:sp>
        <p:nvSpPr>
          <p:cNvPr id="10" name="Text 7"/>
          <p:cNvSpPr/>
          <p:nvPr/>
        </p:nvSpPr>
        <p:spPr>
          <a:xfrm>
            <a:off x="685800" y="2907792"/>
            <a:ext cx="4480560" cy="65836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Show how engine, motor, generator, battery and clutch decisions change with speed demand, SOC and road grade.</a:t>
            </a:r>
            <a:endParaRPr lang="en-US" sz="1150" dirty="0"/>
          </a:p>
        </p:txBody>
      </p:sp>
      <p:sp>
        <p:nvSpPr>
          <p:cNvPr id="11" name="Text 8"/>
          <p:cNvSpPr/>
          <p:nvPr/>
        </p:nvSpPr>
        <p:spPr>
          <a:xfrm>
            <a:off x="685800" y="3840480"/>
            <a:ext cx="4480560" cy="228600"/>
          </a:xfrm>
          <a:prstGeom prst="rect">
            <a:avLst/>
          </a:prstGeom>
          <a:noFill/>
          <a:ln/>
        </p:spPr>
        <p:txBody>
          <a:bodyPr wrap="square" lIns="381" tIns="381" rIns="381" bIns="381" rtlCol="0" anchor="ctr">
            <a:normAutofit/>
          </a:bodyPr>
          <a:lstStyle/>
          <a:p>
            <a:pPr marL="0" indent="0">
              <a:buNone/>
            </a:pPr>
            <a:r>
              <a:rPr lang="en-US" sz="1300" b="1" dirty="0">
                <a:solidFill>
                  <a:srgbClr val="F4A261"/>
                </a:solidFill>
              </a:rPr>
              <a:t>Presentation aim</a:t>
            </a:r>
            <a:endParaRPr lang="en-US" sz="1300" dirty="0"/>
          </a:p>
        </p:txBody>
      </p:sp>
      <p:sp>
        <p:nvSpPr>
          <p:cNvPr id="12" name="Text 9"/>
          <p:cNvSpPr/>
          <p:nvPr/>
        </p:nvSpPr>
        <p:spPr>
          <a:xfrm>
            <a:off x="685800" y="4142232"/>
            <a:ext cx="4480560" cy="65836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Demonstrate subsystem-wise implementation, EMS mode selection and simulation behavior for Drive Cycle 2.</a:t>
            </a:r>
            <a:endParaRPr lang="en-US" sz="1150" dirty="0"/>
          </a:p>
        </p:txBody>
      </p:sp>
      <p:sp>
        <p:nvSpPr>
          <p:cNvPr id="13" name="Text 10"/>
          <p:cNvSpPr/>
          <p:nvPr/>
        </p:nvSpPr>
        <p:spPr>
          <a:xfrm>
            <a:off x="731520" y="5559552"/>
            <a:ext cx="10652760" cy="402336"/>
          </a:xfrm>
          <a:prstGeom prst="rect">
            <a:avLst/>
          </a:prstGeom>
          <a:noFill/>
          <a:ln/>
        </p:spPr>
        <p:txBody>
          <a:bodyPr wrap="square" lIns="381" tIns="381" rIns="381" bIns="381" rtlCol="0" anchor="t">
            <a:normAutofit/>
          </a:bodyPr>
          <a:lstStyle/>
          <a:p>
            <a:pPr marL="0" indent="0" algn="ctr">
              <a:buNone/>
            </a:pPr>
            <a:r>
              <a:rPr lang="en-US" sz="1450" dirty="0">
                <a:solidFill>
                  <a:srgbClr val="1D2433"/>
                </a:solidFill>
                <a:latin typeface="Aptos" pitchFamily="34" charset="0"/>
                <a:ea typeface="Aptos" pitchFamily="34" charset="-122"/>
                <a:cs typeface="Aptos" pitchFamily="34" charset="-120"/>
              </a:rPr>
              <a:t>This is a control-oriented student HEV model: the powertrain is simplified enough to understand, but complete enough to test energy-management decisions.</a:t>
            </a:r>
            <a:endParaRPr lang="en-US" sz="1450" dirty="0"/>
          </a:p>
        </p:txBody>
      </p:sp>
      <p:sp>
        <p:nvSpPr>
          <p:cNvPr id="14" name="Shape 11"/>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5" name="Text 12"/>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16" name="Text 13"/>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02</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FIVE MAIN SUBSYSTEMS</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Top-level system architecture</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top_level.png"/>
          <p:cNvPicPr>
            <a:picLocks noChangeAspect="1"/>
          </p:cNvPicPr>
          <p:nvPr/>
        </p:nvPicPr>
        <p:blipFill>
          <a:blip r:embed="rId3"/>
          <a:stretch>
            <a:fillRect/>
          </a:stretch>
        </p:blipFill>
        <p:spPr>
          <a:xfrm>
            <a:off x="502920" y="1493539"/>
            <a:ext cx="7498080" cy="3733763"/>
          </a:xfrm>
          <a:prstGeom prst="rect">
            <a:avLst/>
          </a:prstGeom>
        </p:spPr>
      </p:pic>
      <p:sp>
        <p:nvSpPr>
          <p:cNvPr id="7" name="Text 4"/>
          <p:cNvSpPr/>
          <p:nvPr/>
        </p:nvSpPr>
        <p:spPr>
          <a:xfrm>
            <a:off x="502920" y="5541264"/>
            <a:ext cx="749808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Top-level model: Battery, Motor_control, Generator_control, Physical Plant and control</a:t>
            </a:r>
            <a:endParaRPr lang="en-US" sz="850" dirty="0"/>
          </a:p>
        </p:txBody>
      </p:sp>
      <p:sp>
        <p:nvSpPr>
          <p:cNvPr id="8" name="Text 5"/>
          <p:cNvSpPr/>
          <p:nvPr/>
        </p:nvSpPr>
        <p:spPr>
          <a:xfrm>
            <a:off x="8275320" y="1234440"/>
            <a:ext cx="3200400" cy="228600"/>
          </a:xfrm>
          <a:prstGeom prst="rect">
            <a:avLst/>
          </a:prstGeom>
          <a:noFill/>
          <a:ln/>
        </p:spPr>
        <p:txBody>
          <a:bodyPr wrap="square" lIns="381" tIns="381" rIns="381" bIns="381" rtlCol="0" anchor="ctr">
            <a:normAutofit/>
          </a:bodyPr>
          <a:lstStyle/>
          <a:p>
            <a:pPr marL="0" indent="0">
              <a:buNone/>
            </a:pPr>
            <a:r>
              <a:rPr lang="en-US" sz="1300" b="1" dirty="0">
                <a:solidFill>
                  <a:srgbClr val="2A6FBB"/>
                </a:solidFill>
              </a:rPr>
              <a:t>control</a:t>
            </a:r>
            <a:endParaRPr lang="en-US" sz="1300" dirty="0"/>
          </a:p>
        </p:txBody>
      </p:sp>
      <p:sp>
        <p:nvSpPr>
          <p:cNvPr id="9" name="Text 6"/>
          <p:cNvSpPr/>
          <p:nvPr/>
        </p:nvSpPr>
        <p:spPr>
          <a:xfrm>
            <a:off x="8275320" y="1536192"/>
            <a:ext cx="3200400" cy="38404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EMS brain: selects drive cycle, computes T_req, Stateflow mode and torque split.</a:t>
            </a:r>
            <a:endParaRPr lang="en-US" sz="1150" dirty="0"/>
          </a:p>
        </p:txBody>
      </p:sp>
      <p:sp>
        <p:nvSpPr>
          <p:cNvPr id="10" name="Text 7"/>
          <p:cNvSpPr/>
          <p:nvPr/>
        </p:nvSpPr>
        <p:spPr>
          <a:xfrm>
            <a:off x="8275320" y="2148840"/>
            <a:ext cx="3200400" cy="228600"/>
          </a:xfrm>
          <a:prstGeom prst="rect">
            <a:avLst/>
          </a:prstGeom>
          <a:noFill/>
          <a:ln/>
        </p:spPr>
        <p:txBody>
          <a:bodyPr wrap="square" lIns="381" tIns="381" rIns="381" bIns="381" rtlCol="0" anchor="ctr">
            <a:normAutofit/>
          </a:bodyPr>
          <a:lstStyle/>
          <a:p>
            <a:pPr marL="0" indent="0">
              <a:buNone/>
            </a:pPr>
            <a:r>
              <a:rPr lang="en-US" sz="1300" b="1" dirty="0">
                <a:solidFill>
                  <a:srgbClr val="27AE60"/>
                </a:solidFill>
              </a:rPr>
              <a:t>Physical Plant</a:t>
            </a:r>
            <a:endParaRPr lang="en-US" sz="1300" dirty="0"/>
          </a:p>
        </p:txBody>
      </p:sp>
      <p:sp>
        <p:nvSpPr>
          <p:cNvPr id="11" name="Text 8"/>
          <p:cNvSpPr/>
          <p:nvPr/>
        </p:nvSpPr>
        <p:spPr>
          <a:xfrm>
            <a:off x="8275320" y="2450592"/>
            <a:ext cx="3200400" cy="38404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Simscape vehicle/driveline: converts torque and brake commands into speed feedback.</a:t>
            </a:r>
            <a:endParaRPr lang="en-US" sz="1150" dirty="0"/>
          </a:p>
        </p:txBody>
      </p:sp>
      <p:sp>
        <p:nvSpPr>
          <p:cNvPr id="12" name="Text 9"/>
          <p:cNvSpPr/>
          <p:nvPr/>
        </p:nvSpPr>
        <p:spPr>
          <a:xfrm>
            <a:off x="8275320" y="3063240"/>
            <a:ext cx="3200400" cy="228600"/>
          </a:xfrm>
          <a:prstGeom prst="rect">
            <a:avLst/>
          </a:prstGeom>
          <a:noFill/>
          <a:ln/>
        </p:spPr>
        <p:txBody>
          <a:bodyPr wrap="square" lIns="381" tIns="381" rIns="381" bIns="381" rtlCol="0" anchor="ctr">
            <a:normAutofit/>
          </a:bodyPr>
          <a:lstStyle/>
          <a:p>
            <a:pPr marL="0" indent="0">
              <a:buNone/>
            </a:pPr>
            <a:r>
              <a:rPr lang="en-US" sz="1300" b="1" dirty="0">
                <a:solidFill>
                  <a:srgbClr val="F4A261"/>
                </a:solidFill>
              </a:rPr>
              <a:t>Battery + actuators</a:t>
            </a:r>
            <a:endParaRPr lang="en-US" sz="1300" dirty="0"/>
          </a:p>
        </p:txBody>
      </p:sp>
      <p:sp>
        <p:nvSpPr>
          <p:cNvPr id="13" name="Text 10"/>
          <p:cNvSpPr/>
          <p:nvPr/>
        </p:nvSpPr>
        <p:spPr>
          <a:xfrm>
            <a:off x="8275320" y="3364992"/>
            <a:ext cx="3200400" cy="38404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Battery estimates SOC/voltage. Motor_control and Generator_control condition torque/power signals.</a:t>
            </a:r>
            <a:endParaRPr lang="en-US" sz="1150" dirty="0"/>
          </a:p>
        </p:txBody>
      </p:sp>
      <p:sp>
        <p:nvSpPr>
          <p:cNvPr id="14" name="Text 11"/>
          <p:cNvSpPr/>
          <p:nvPr/>
        </p:nvSpPr>
        <p:spPr>
          <a:xfrm>
            <a:off x="8321040" y="4251960"/>
            <a:ext cx="3063240" cy="914400"/>
          </a:xfrm>
          <a:prstGeom prst="rect">
            <a:avLst/>
          </a:prstGeom>
          <a:noFill/>
          <a:ln/>
        </p:spPr>
        <p:txBody>
          <a:bodyPr wrap="square" lIns="73152" tIns="36576" rIns="73152" bIns="36576" rtlCol="0" anchor="t">
            <a:normAutofit/>
          </a:bodyPr>
          <a:lstStyle/>
          <a:p>
            <a:pPr marL="0" indent="0" algn="l">
              <a:buNone/>
            </a:pPr>
            <a:r>
              <a:rPr sz="1100" b="0">
                <a:solidFill>
                  <a:srgbClr val="212D3C"/>
                </a:solidFill>
                <a:latin typeface="Aptos"/>
              </a:rPr>
              <a:t>Closed-loop idea:</a:t>
            </a:r>
            <a:br/>
            <a:r>
              <a:rPr sz="1100" b="0">
                <a:solidFill>
                  <a:srgbClr val="212D3C"/>
                </a:solidFill>
                <a:latin typeface="Aptos"/>
              </a:rPr>
              <a:t>v_ref / drive cycle → DriverPI → T_req → EMS mode → torque split → plant → speed feedback.</a:t>
            </a:r>
            <a:br/>
            <a:r>
              <a:rPr sz="1100" b="0">
                <a:solidFill>
                  <a:srgbClr val="212D3C"/>
                </a:solidFill>
                <a:latin typeface="Aptos"/>
              </a:rPr>
              <a:t>The plant output closes the loop, so torque demand changes with vehicle response instead of staying independent.</a:t>
            </a:r>
            <a:endParaRPr lang="en-US" sz="1400" dirty="0"/>
          </a:p>
        </p:txBody>
      </p:sp>
      <p:sp>
        <p:nvSpPr>
          <p:cNvPr id="15" name="Shape 12"/>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6" name="Text 13"/>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17" name="Text 14"/>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03</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DRIVE CYCLE, PI DRIVER, STATEFLOW EMS AND TORQUE SPLIT</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Control subsystem</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control.png"/>
          <p:cNvPicPr>
            <a:picLocks noChangeAspect="1"/>
          </p:cNvPicPr>
          <p:nvPr/>
        </p:nvPicPr>
        <p:blipFill>
          <a:blip r:embed="rId3"/>
          <a:stretch>
            <a:fillRect/>
          </a:stretch>
        </p:blipFill>
        <p:spPr>
          <a:xfrm>
            <a:off x="502920" y="1183155"/>
            <a:ext cx="11201400" cy="3440130"/>
          </a:xfrm>
          <a:prstGeom prst="rect">
            <a:avLst/>
          </a:prstGeom>
        </p:spPr>
      </p:pic>
      <p:sp>
        <p:nvSpPr>
          <p:cNvPr id="7" name="Text 4"/>
          <p:cNvSpPr/>
          <p:nvPr/>
        </p:nvSpPr>
        <p:spPr>
          <a:xfrm>
            <a:off x="502920" y="4718304"/>
            <a:ext cx="1120140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Updated control subsystem screenshot</a:t>
            </a:r>
            <a:endParaRPr lang="en-US" sz="850" dirty="0"/>
          </a:p>
        </p:txBody>
      </p:sp>
      <p:sp>
        <p:nvSpPr>
          <p:cNvPr id="8" name="Shape 5"/>
          <p:cNvSpPr/>
          <p:nvPr/>
        </p:nvSpPr>
        <p:spPr>
          <a:xfrm>
            <a:off x="2715768" y="5367528"/>
            <a:ext cx="173736" cy="0"/>
          </a:xfrm>
          <a:prstGeom prst="line">
            <a:avLst/>
          </a:prstGeom>
          <a:noFill/>
          <a:ln w="16510">
            <a:solidFill>
              <a:srgbClr val="2A6FBB"/>
            </a:solidFill>
            <a:prstDash val="solid"/>
            <a:headEnd type="none"/>
            <a:tailEnd type="triangle"/>
          </a:ln>
        </p:spPr>
        <p:txBody>
          <a:bodyPr/>
          <a:lstStyle/>
          <a:p>
            <a:endParaRPr/>
          </a:p>
        </p:txBody>
      </p:sp>
      <p:sp>
        <p:nvSpPr>
          <p:cNvPr id="9" name="Shape 6"/>
          <p:cNvSpPr/>
          <p:nvPr/>
        </p:nvSpPr>
        <p:spPr>
          <a:xfrm>
            <a:off x="4901184" y="5367528"/>
            <a:ext cx="173736" cy="0"/>
          </a:xfrm>
          <a:prstGeom prst="line">
            <a:avLst/>
          </a:prstGeom>
          <a:noFill/>
          <a:ln w="16510">
            <a:solidFill>
              <a:srgbClr val="2A6FBB"/>
            </a:solidFill>
            <a:prstDash val="solid"/>
            <a:headEnd type="none"/>
            <a:tailEnd type="triangle"/>
          </a:ln>
        </p:spPr>
        <p:txBody>
          <a:bodyPr/>
          <a:lstStyle/>
          <a:p>
            <a:endParaRPr/>
          </a:p>
        </p:txBody>
      </p:sp>
      <p:sp>
        <p:nvSpPr>
          <p:cNvPr id="10" name="Shape 7"/>
          <p:cNvSpPr/>
          <p:nvPr/>
        </p:nvSpPr>
        <p:spPr>
          <a:xfrm>
            <a:off x="7086600" y="5367528"/>
            <a:ext cx="173736" cy="0"/>
          </a:xfrm>
          <a:prstGeom prst="line">
            <a:avLst/>
          </a:prstGeom>
          <a:noFill/>
          <a:ln w="16510">
            <a:solidFill>
              <a:srgbClr val="2A6FBB"/>
            </a:solidFill>
            <a:prstDash val="solid"/>
            <a:headEnd type="none"/>
            <a:tailEnd type="triangle"/>
          </a:ln>
        </p:spPr>
        <p:txBody>
          <a:bodyPr/>
          <a:lstStyle/>
          <a:p>
            <a:endParaRPr/>
          </a:p>
        </p:txBody>
      </p:sp>
      <p:sp>
        <p:nvSpPr>
          <p:cNvPr id="11" name="Shape 8"/>
          <p:cNvSpPr/>
          <p:nvPr/>
        </p:nvSpPr>
        <p:spPr>
          <a:xfrm>
            <a:off x="9272016" y="5367528"/>
            <a:ext cx="173736" cy="0"/>
          </a:xfrm>
          <a:prstGeom prst="line">
            <a:avLst/>
          </a:prstGeom>
          <a:noFill/>
          <a:ln w="16510">
            <a:solidFill>
              <a:srgbClr val="2A6FBB"/>
            </a:solidFill>
            <a:prstDash val="solid"/>
            <a:headEnd type="none"/>
            <a:tailEnd type="triangle"/>
          </a:ln>
        </p:spPr>
        <p:txBody>
          <a:bodyPr/>
          <a:lstStyle/>
          <a:p>
            <a:endParaRPr/>
          </a:p>
        </p:txBody>
      </p:sp>
      <p:sp>
        <p:nvSpPr>
          <p:cNvPr id="12" name="Text 9"/>
          <p:cNvSpPr/>
          <p:nvPr/>
        </p:nvSpPr>
        <p:spPr>
          <a:xfrm>
            <a:off x="685800" y="5074920"/>
            <a:ext cx="2048256"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dc_ts{1..6}</a:t>
            </a:r>
            <a:endParaRPr lang="en-US" sz="1050" dirty="0"/>
          </a:p>
          <a:p>
            <a:pPr marL="0" indent="0" algn="ctr">
              <a:buNone/>
            </a:pPr>
            <a:r>
              <a:rPr lang="en-US" sz="1050" b="1" dirty="0">
                <a:solidFill>
                  <a:srgbClr val="172A45"/>
                </a:solidFill>
              </a:rPr>
              <a:t>selection</a:t>
            </a:r>
            <a:endParaRPr lang="en-US" sz="1050" dirty="0"/>
          </a:p>
        </p:txBody>
      </p:sp>
      <p:sp>
        <p:nvSpPr>
          <p:cNvPr id="13" name="Text 10"/>
          <p:cNvSpPr/>
          <p:nvPr/>
        </p:nvSpPr>
        <p:spPr>
          <a:xfrm>
            <a:off x="2871216" y="5074920"/>
            <a:ext cx="2048256"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DriverPI</a:t>
            </a:r>
            <a:endParaRPr lang="en-US" sz="1050" dirty="0"/>
          </a:p>
          <a:p>
            <a:pPr marL="0" indent="0" algn="ctr">
              <a:buNone/>
            </a:pPr>
            <a:r>
              <a:rPr lang="en-US" sz="1050" b="1" dirty="0">
                <a:solidFill>
                  <a:srgbClr val="172A45"/>
                </a:solidFill>
              </a:rPr>
              <a:t>T_req + brake</a:t>
            </a:r>
            <a:endParaRPr lang="en-US" sz="1050" dirty="0"/>
          </a:p>
        </p:txBody>
      </p:sp>
      <p:sp>
        <p:nvSpPr>
          <p:cNvPr id="14" name="Text 11"/>
          <p:cNvSpPr/>
          <p:nvPr/>
        </p:nvSpPr>
        <p:spPr>
          <a:xfrm>
            <a:off x="5056632" y="5074920"/>
            <a:ext cx="2048256"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Terrain</a:t>
            </a:r>
            <a:endParaRPr lang="en-US" sz="1050" dirty="0"/>
          </a:p>
          <a:p>
            <a:pPr marL="0" indent="0" algn="ctr">
              <a:buNone/>
            </a:pPr>
            <a:r>
              <a:rPr lang="en-US" sz="1050" b="1" dirty="0">
                <a:solidFill>
                  <a:srgbClr val="172A45"/>
                </a:solidFill>
              </a:rPr>
              <a:t>Grade</a:t>
            </a:r>
            <a:endParaRPr lang="en-US" sz="1050" dirty="0"/>
          </a:p>
        </p:txBody>
      </p:sp>
      <p:sp>
        <p:nvSpPr>
          <p:cNvPr id="15" name="Text 12"/>
          <p:cNvSpPr/>
          <p:nvPr/>
        </p:nvSpPr>
        <p:spPr>
          <a:xfrm>
            <a:off x="7242048" y="5074920"/>
            <a:ext cx="2048256"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Stateflow</a:t>
            </a:r>
            <a:endParaRPr lang="en-US" sz="1050" dirty="0"/>
          </a:p>
          <a:p>
            <a:pPr marL="0" indent="0" algn="ctr">
              <a:buNone/>
            </a:pPr>
            <a:r>
              <a:rPr lang="en-US" sz="1050" b="1" dirty="0">
                <a:solidFill>
                  <a:srgbClr val="172A45"/>
                </a:solidFill>
              </a:rPr>
              <a:t>mode</a:t>
            </a:r>
            <a:endParaRPr lang="en-US" sz="1050" dirty="0"/>
          </a:p>
        </p:txBody>
      </p:sp>
      <p:sp>
        <p:nvSpPr>
          <p:cNvPr id="16" name="Text 13"/>
          <p:cNvSpPr/>
          <p:nvPr/>
        </p:nvSpPr>
        <p:spPr>
          <a:xfrm>
            <a:off x="9427464" y="5074920"/>
            <a:ext cx="2048256"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Torque Split</a:t>
            </a:r>
            <a:endParaRPr lang="en-US" sz="1050" dirty="0"/>
          </a:p>
          <a:p>
            <a:pPr marL="0" indent="0" algn="ctr">
              <a:buNone/>
            </a:pPr>
            <a:r>
              <a:rPr lang="en-US" sz="1050" b="1" dirty="0">
                <a:solidFill>
                  <a:srgbClr val="172A45"/>
                </a:solidFill>
              </a:rPr>
              <a:t>T_engine/T_motor/T_gen</a:t>
            </a:r>
            <a:endParaRPr lang="en-US" sz="1050" dirty="0"/>
          </a:p>
        </p:txBody>
      </p:sp>
      <p:sp>
        <p:nvSpPr>
          <p:cNvPr id="17" name="Text 14"/>
          <p:cNvSpPr/>
          <p:nvPr/>
        </p:nvSpPr>
        <p:spPr>
          <a:xfrm>
            <a:off x="713232" y="5989320"/>
            <a:ext cx="10789920" cy="411480"/>
          </a:xfrm>
          <a:prstGeom prst="rect">
            <a:avLst/>
          </a:prstGeom>
          <a:noFill/>
          <a:ln/>
        </p:spPr>
        <p:txBody>
          <a:bodyPr wrap="square" lIns="73152" tIns="36576" rIns="73152" bIns="36576" rtlCol="0" anchor="t">
            <a:normAutofit/>
          </a:bodyPr>
          <a:lstStyle/>
          <a:p>
            <a:pPr marL="0" indent="0" algn="ctr">
              <a:buNone/>
            </a:pPr>
            <a:r>
              <a:rPr sz="1200" b="0">
                <a:solidFill>
                  <a:srgbClr val="212D3C"/>
                </a:solidFill>
                <a:latin typeface="Aptos"/>
              </a:rPr>
              <a:t>Explanation path: selected drive cycle gives v_ref; DriverPI compares v_ref with actual feedback and creates T_req/brake_sig; terrain block adds grade; Stateflow selects mode; Torque_Split converts mode into T_engine, T_motor and T_gen.</a:t>
            </a:r>
            <a:endParaRPr lang="en-US" sz="1250" dirty="0"/>
          </a:p>
        </p:txBody>
      </p:sp>
      <p:sp>
        <p:nvSpPr>
          <p:cNvPr id="18" name="Shape 15"/>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9" name="Text 16"/>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20" name="Text 17"/>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04</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MODE LOGIC FOR SERIES-PARALLEL OPERATION</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Energy Management System: Stateflow modes</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stateflow_conditions.png"/>
          <p:cNvPicPr>
            <a:picLocks noChangeAspect="1"/>
          </p:cNvPicPr>
          <p:nvPr/>
        </p:nvPicPr>
        <p:blipFill>
          <a:blip r:embed="rId3"/>
          <a:stretch>
            <a:fillRect/>
          </a:stretch>
        </p:blipFill>
        <p:spPr>
          <a:xfrm>
            <a:off x="594360" y="1547995"/>
            <a:ext cx="6583680" cy="2024651"/>
          </a:xfrm>
          <a:prstGeom prst="rect">
            <a:avLst/>
          </a:prstGeom>
        </p:spPr>
      </p:pic>
      <p:sp>
        <p:nvSpPr>
          <p:cNvPr id="7" name="Text 4"/>
          <p:cNvSpPr/>
          <p:nvPr/>
        </p:nvSpPr>
        <p:spPr>
          <a:xfrm>
            <a:off x="594360" y="4032504"/>
            <a:ext cx="658368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EMS Stateflow chart with entry actions and transition conditions</a:t>
            </a:r>
            <a:endParaRPr lang="en-US" sz="850" dirty="0"/>
          </a:p>
        </p:txBody>
      </p:sp>
      <p:pic>
        <p:nvPicPr>
          <p:cNvPr id="8" name="Image 1" descr="/mnt/data/ppt_assets/stateflow_alt.png"/>
          <p:cNvPicPr>
            <a:picLocks noChangeAspect="1"/>
          </p:cNvPicPr>
          <p:nvPr/>
        </p:nvPicPr>
        <p:blipFill>
          <a:blip r:embed="rId4"/>
          <a:stretch>
            <a:fillRect/>
          </a:stretch>
        </p:blipFill>
        <p:spPr>
          <a:xfrm>
            <a:off x="1548245" y="4343400"/>
            <a:ext cx="4675909" cy="1645920"/>
          </a:xfrm>
          <a:prstGeom prst="rect">
            <a:avLst/>
          </a:prstGeom>
        </p:spPr>
      </p:pic>
      <p:sp>
        <p:nvSpPr>
          <p:cNvPr id="9" name="Text 5"/>
          <p:cNvSpPr/>
          <p:nvPr/>
        </p:nvSpPr>
        <p:spPr>
          <a:xfrm>
            <a:off x="594360" y="6044184"/>
            <a:ext cx="658368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Alternate compact Stateflow overview</a:t>
            </a:r>
            <a:endParaRPr lang="en-US" sz="850" dirty="0"/>
          </a:p>
        </p:txBody>
      </p:sp>
      <p:sp>
        <p:nvSpPr>
          <p:cNvPr id="10" name="Text 6"/>
          <p:cNvSpPr/>
          <p:nvPr/>
        </p:nvSpPr>
        <p:spPr>
          <a:xfrm>
            <a:off x="7498080" y="1143000"/>
            <a:ext cx="3977640" cy="228600"/>
          </a:xfrm>
          <a:prstGeom prst="rect">
            <a:avLst/>
          </a:prstGeom>
          <a:noFill/>
          <a:ln/>
        </p:spPr>
        <p:txBody>
          <a:bodyPr wrap="square" lIns="381" tIns="381" rIns="381" bIns="381" rtlCol="0" anchor="ctr">
            <a:normAutofit/>
          </a:bodyPr>
          <a:lstStyle/>
          <a:p>
            <a:pPr marL="0" indent="0">
              <a:buNone/>
            </a:pPr>
            <a:r>
              <a:rPr lang="en-US" sz="1300" b="1" dirty="0">
                <a:solidFill>
                  <a:srgbClr val="5A667A"/>
                </a:solidFill>
              </a:rPr>
              <a:t>Vehicle_Standby</a:t>
            </a:r>
            <a:endParaRPr lang="en-US" sz="1300" dirty="0"/>
          </a:p>
        </p:txBody>
      </p:sp>
      <p:sp>
        <p:nvSpPr>
          <p:cNvPr id="11" name="Text 7"/>
          <p:cNvSpPr/>
          <p:nvPr/>
        </p:nvSpPr>
        <p:spPr>
          <a:xfrm>
            <a:off x="7498080" y="1444752"/>
            <a:ext cx="3977640" cy="38404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No propulsion command; engine, clutch and generator load are off.</a:t>
            </a:r>
            <a:endParaRPr lang="en-US" sz="1150" dirty="0"/>
          </a:p>
        </p:txBody>
      </p:sp>
      <p:sp>
        <p:nvSpPr>
          <p:cNvPr id="12" name="Text 8"/>
          <p:cNvSpPr/>
          <p:nvPr/>
        </p:nvSpPr>
        <p:spPr>
          <a:xfrm>
            <a:off x="7498080" y="2075688"/>
            <a:ext cx="3977640" cy="228600"/>
          </a:xfrm>
          <a:prstGeom prst="rect">
            <a:avLst/>
          </a:prstGeom>
          <a:noFill/>
          <a:ln/>
        </p:spPr>
        <p:txBody>
          <a:bodyPr wrap="square" lIns="381" tIns="381" rIns="381" bIns="381" rtlCol="0" anchor="ctr">
            <a:normAutofit/>
          </a:bodyPr>
          <a:lstStyle/>
          <a:p>
            <a:pPr marL="0" indent="0">
              <a:buNone/>
            </a:pPr>
            <a:r>
              <a:rPr lang="en-US" sz="1300" b="1" dirty="0">
                <a:solidFill>
                  <a:srgbClr val="27AE60"/>
                </a:solidFill>
              </a:rPr>
              <a:t>Regen_Braking</a:t>
            </a:r>
            <a:endParaRPr lang="en-US" sz="1300" dirty="0"/>
          </a:p>
        </p:txBody>
      </p:sp>
      <p:sp>
        <p:nvSpPr>
          <p:cNvPr id="13" name="Text 9"/>
          <p:cNvSpPr/>
          <p:nvPr/>
        </p:nvSpPr>
        <p:spPr>
          <a:xfrm>
            <a:off x="7498080" y="2377440"/>
            <a:ext cx="3977640" cy="38404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Triggered when T_req &lt; 0; motor path supports negative torque if SOC permits.</a:t>
            </a:r>
            <a:endParaRPr lang="en-US" sz="1150" dirty="0"/>
          </a:p>
        </p:txBody>
      </p:sp>
      <p:sp>
        <p:nvSpPr>
          <p:cNvPr id="14" name="Text 10"/>
          <p:cNvSpPr/>
          <p:nvPr/>
        </p:nvSpPr>
        <p:spPr>
          <a:xfrm>
            <a:off x="7498080" y="2999232"/>
            <a:ext cx="3977640" cy="228600"/>
          </a:xfrm>
          <a:prstGeom prst="rect">
            <a:avLst/>
          </a:prstGeom>
          <a:noFill/>
          <a:ln/>
        </p:spPr>
        <p:txBody>
          <a:bodyPr wrap="square" lIns="381" tIns="381" rIns="381" bIns="381" rtlCol="0" anchor="ctr">
            <a:normAutofit/>
          </a:bodyPr>
          <a:lstStyle/>
          <a:p>
            <a:pPr marL="0" indent="0">
              <a:buNone/>
            </a:pPr>
            <a:r>
              <a:rPr lang="en-US" sz="1300" b="1" dirty="0">
                <a:solidFill>
                  <a:srgbClr val="2A6FBB"/>
                </a:solidFill>
              </a:rPr>
              <a:t>Series_mode</a:t>
            </a:r>
            <a:endParaRPr lang="en-US" sz="1300" dirty="0"/>
          </a:p>
        </p:txBody>
      </p:sp>
      <p:sp>
        <p:nvSpPr>
          <p:cNvPr id="15" name="Text 11"/>
          <p:cNvSpPr/>
          <p:nvPr/>
        </p:nvSpPr>
        <p:spPr>
          <a:xfrm>
            <a:off x="7498080" y="3300984"/>
            <a:ext cx="3977640" cy="47548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Engine drives generator; motor provides road torque. Useful for lower speed or charging-support conditions.</a:t>
            </a:r>
            <a:endParaRPr lang="en-US" sz="1150" dirty="0"/>
          </a:p>
        </p:txBody>
      </p:sp>
      <p:sp>
        <p:nvSpPr>
          <p:cNvPr id="16" name="Text 12"/>
          <p:cNvSpPr/>
          <p:nvPr/>
        </p:nvSpPr>
        <p:spPr>
          <a:xfrm>
            <a:off x="7498080" y="4041648"/>
            <a:ext cx="3977640" cy="228600"/>
          </a:xfrm>
          <a:prstGeom prst="rect">
            <a:avLst/>
          </a:prstGeom>
          <a:noFill/>
          <a:ln/>
        </p:spPr>
        <p:txBody>
          <a:bodyPr wrap="square" lIns="381" tIns="381" rIns="381" bIns="381" rtlCol="0" anchor="ctr">
            <a:normAutofit/>
          </a:bodyPr>
          <a:lstStyle/>
          <a:p>
            <a:pPr marL="0" indent="0">
              <a:buNone/>
            </a:pPr>
            <a:r>
              <a:rPr lang="en-US" sz="1300" b="1" dirty="0">
                <a:solidFill>
                  <a:srgbClr val="F4A261"/>
                </a:solidFill>
              </a:rPr>
              <a:t>Parallel / Series-Parallel</a:t>
            </a:r>
            <a:endParaRPr lang="en-US" sz="1300" dirty="0"/>
          </a:p>
        </p:txBody>
      </p:sp>
      <p:sp>
        <p:nvSpPr>
          <p:cNvPr id="17" name="Text 13"/>
          <p:cNvSpPr/>
          <p:nvPr/>
        </p:nvSpPr>
        <p:spPr>
          <a:xfrm>
            <a:off x="7498080" y="4343400"/>
            <a:ext cx="3977640" cy="61264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Clutch engages engine to driveline; motor assists or generator absorbs surplus depending on demand and SOC.</a:t>
            </a:r>
            <a:endParaRPr lang="en-US" sz="1150" dirty="0"/>
          </a:p>
        </p:txBody>
      </p:sp>
      <p:sp>
        <p:nvSpPr>
          <p:cNvPr id="18" name="Shape 14"/>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9" name="Text 15"/>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20" name="Text 16"/>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05</a:t>
            </a:r>
            <a:endParaRPr lang="en-US" sz="750" dirty="0"/>
          </a:p>
        </p:txBody>
      </p:sp>
      <p:sp>
        <p:nvSpPr>
          <p:cNvPr id="21" name="Rounded Rectangle 20"/>
          <p:cNvSpPr/>
          <p:nvPr/>
        </p:nvSpPr>
        <p:spPr>
          <a:xfrm>
            <a:off x="7498079" y="5138928"/>
            <a:ext cx="3977639" cy="658368"/>
          </a:xfrm>
          <a:prstGeom prst="roundRect">
            <a:avLst/>
          </a:prstGeom>
          <a:solidFill>
            <a:srgbClr val="FFF8DC"/>
          </a:solidFill>
          <a:ln w="12700">
            <a:solidFill>
              <a:srgbClr val="B3CDE8"/>
            </a:solidFill>
          </a:ln>
        </p:spPr>
        <p:style>
          <a:lnRef idx="1">
            <a:schemeClr val="accent1"/>
          </a:lnRef>
          <a:fillRef idx="3">
            <a:schemeClr val="accent1"/>
          </a:fillRef>
          <a:effectRef idx="2">
            <a:schemeClr val="accent1"/>
          </a:effectRef>
          <a:fontRef idx="minor">
            <a:schemeClr val="lt1"/>
          </a:fontRef>
        </p:style>
        <p:txBody>
          <a:bodyPr wrap="square" lIns="109728" tIns="73152" rIns="109728" bIns="54864" rtlCol="0" anchor="ctr">
            <a:normAutofit/>
          </a:bodyPr>
          <a:lstStyle/>
          <a:p>
            <a:pPr algn="ctr"/>
            <a:r>
              <a:rPr sz="1200" b="1">
                <a:solidFill>
                  <a:srgbClr val="0B2D4D"/>
                </a:solidFill>
                <a:latin typeface="Aptos"/>
              </a:rPr>
              <a:t>How to present it</a:t>
            </a:r>
          </a:p>
          <a:p>
            <a:r>
              <a:rPr sz="1100">
                <a:solidFill>
                  <a:srgbClr val="212D3C"/>
                </a:solidFill>
                <a:latin typeface="Aptos"/>
              </a:rPr>
              <a:t>This is a rule-based EMS. Speed, SOC, grade and T_req decide whether the vehicle behaves like series, parallel or series-parallel HEV.</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DRIVE CYCLE 2 RESPONSE</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DriverPI and speed tracking</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scope_driver.png"/>
          <p:cNvPicPr>
            <a:picLocks noChangeAspect="1"/>
          </p:cNvPicPr>
          <p:nvPr/>
        </p:nvPicPr>
        <p:blipFill>
          <a:blip r:embed="rId3"/>
          <a:stretch>
            <a:fillRect/>
          </a:stretch>
        </p:blipFill>
        <p:spPr>
          <a:xfrm>
            <a:off x="566928" y="1541357"/>
            <a:ext cx="5623560" cy="2047070"/>
          </a:xfrm>
          <a:prstGeom prst="rect">
            <a:avLst/>
          </a:prstGeom>
        </p:spPr>
      </p:pic>
      <p:sp>
        <p:nvSpPr>
          <p:cNvPr id="7" name="Text 4"/>
          <p:cNvSpPr/>
          <p:nvPr/>
        </p:nvSpPr>
        <p:spPr>
          <a:xfrm>
            <a:off x="566928" y="4014216"/>
            <a:ext cx="562356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DriverPI internal scope: T_req, pedal, v_ref and v_actual</a:t>
            </a:r>
            <a:endParaRPr lang="en-US" sz="850" dirty="0"/>
          </a:p>
        </p:txBody>
      </p:sp>
      <p:pic>
        <p:nvPicPr>
          <p:cNvPr id="8" name="Image 1" descr="/mnt/data/ppt_assets/scope_speed.png"/>
          <p:cNvPicPr>
            <a:picLocks noChangeAspect="1"/>
          </p:cNvPicPr>
          <p:nvPr/>
        </p:nvPicPr>
        <p:blipFill>
          <a:blip r:embed="rId4"/>
          <a:stretch>
            <a:fillRect/>
          </a:stretch>
        </p:blipFill>
        <p:spPr>
          <a:xfrm>
            <a:off x="6446520" y="1434772"/>
            <a:ext cx="5120640" cy="2260239"/>
          </a:xfrm>
          <a:prstGeom prst="rect">
            <a:avLst/>
          </a:prstGeom>
        </p:spPr>
      </p:pic>
      <p:sp>
        <p:nvSpPr>
          <p:cNvPr id="9" name="Text 5"/>
          <p:cNvSpPr/>
          <p:nvPr/>
        </p:nvSpPr>
        <p:spPr>
          <a:xfrm>
            <a:off x="6446520" y="4014216"/>
            <a:ext cx="512064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Scope_Speed: actual speed and clutch command</a:t>
            </a:r>
            <a:endParaRPr lang="en-US" sz="850" dirty="0"/>
          </a:p>
        </p:txBody>
      </p:sp>
      <p:sp>
        <p:nvSpPr>
          <p:cNvPr id="10" name="Text 6"/>
          <p:cNvSpPr/>
          <p:nvPr/>
        </p:nvSpPr>
        <p:spPr>
          <a:xfrm>
            <a:off x="822960" y="4526280"/>
            <a:ext cx="4983480" cy="1143000"/>
          </a:xfrm>
          <a:prstGeom prst="rect">
            <a:avLst/>
          </a:prstGeom>
          <a:solidFill>
            <a:srgbClr val="FFFFFF"/>
          </a:solidFill>
          <a:ln w="10160">
            <a:solidFill>
              <a:srgbClr val="D8E1EA"/>
            </a:solidFill>
          </a:ln>
        </p:spPr>
        <p:txBody>
          <a:bodyPr wrap="square" lIns="73152" tIns="36576" rIns="73152" bIns="36576" rtlCol="0" anchor="ctr">
            <a:normAutofit/>
          </a:bodyPr>
          <a:lstStyle/>
          <a:p>
            <a:pPr marL="0" indent="0">
              <a:buNone/>
            </a:pPr>
            <a:r>
              <a:rPr sz="1200" b="0">
                <a:solidFill>
                  <a:srgbClr val="212D3C"/>
                </a:solidFill>
                <a:latin typeface="Aptos"/>
              </a:rPr>
              <a:t>DriverPI logic:</a:t>
            </a:r>
            <a:br/>
            <a:r>
              <a:rPr sz="1200" b="0">
                <a:solidFill>
                  <a:srgbClr val="212D3C"/>
                </a:solidFill>
                <a:latin typeface="Aptos"/>
              </a:rPr>
              <a:t>• Error = reference speed − actual speed</a:t>
            </a:r>
            <a:br/>
            <a:r>
              <a:rPr sz="1200" b="0">
                <a:solidFill>
                  <a:srgbClr val="212D3C"/>
                </a:solidFill>
                <a:latin typeface="Aptos"/>
              </a:rPr>
              <a:t>• PI controller converts error to pedal command</a:t>
            </a:r>
            <a:br/>
            <a:r>
              <a:rPr sz="1200" b="0">
                <a:solidFill>
                  <a:srgbClr val="212D3C"/>
                </a:solidFill>
                <a:latin typeface="Aptos"/>
              </a:rPr>
              <a:t>• Positive pedal → filtered T_req</a:t>
            </a:r>
            <a:br/>
            <a:r>
              <a:rPr sz="1200" b="0">
                <a:solidFill>
                  <a:srgbClr val="212D3C"/>
                </a:solidFill>
                <a:latin typeface="Aptos"/>
              </a:rPr>
              <a:t>• Negative pedal → brake_sig</a:t>
            </a:r>
            <a:endParaRPr lang="en-US" sz="1350" dirty="0"/>
          </a:p>
        </p:txBody>
      </p:sp>
      <p:sp>
        <p:nvSpPr>
          <p:cNvPr id="11" name="Text 7"/>
          <p:cNvSpPr/>
          <p:nvPr/>
        </p:nvSpPr>
        <p:spPr>
          <a:xfrm>
            <a:off x="6629400" y="4572000"/>
            <a:ext cx="4709160" cy="1005840"/>
          </a:xfrm>
          <a:prstGeom prst="rect">
            <a:avLst/>
          </a:prstGeom>
          <a:noFill/>
          <a:ln/>
        </p:spPr>
        <p:txBody>
          <a:bodyPr wrap="square" lIns="73152" tIns="36576" rIns="73152" bIns="36576" rtlCol="0" anchor="t">
            <a:normAutofit/>
          </a:bodyPr>
          <a:lstStyle/>
          <a:p>
            <a:pPr marL="0" indent="0" algn="l">
              <a:buNone/>
            </a:pPr>
            <a:r>
              <a:rPr sz="1200" b="0">
                <a:solidFill>
                  <a:srgbClr val="212D3C"/>
                </a:solidFill>
                <a:latin typeface="Aptos"/>
              </a:rPr>
              <a:t>Observation for Drive Cycle 2:</a:t>
            </a:r>
            <a:br/>
            <a:r>
              <a:rPr sz="1200" b="0">
                <a:solidFill>
                  <a:srgbClr val="212D3C"/>
                </a:solidFill>
                <a:latin typeface="Aptos"/>
              </a:rPr>
              <a:t>Actual speed follows the reference profile with delay due to vehicle inertia, torque limits and drivetrain dynamics. This proves the controller is connected in closed loop.</a:t>
            </a:r>
            <a:endParaRPr lang="en-US" sz="1420" dirty="0"/>
          </a:p>
        </p:txBody>
      </p:sp>
      <p:sp>
        <p:nvSpPr>
          <p:cNvPr id="12" name="Shape 8"/>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3" name="Text 9"/>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14" name="Text 10"/>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06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HOW EMS COMMANDS BECOME TORQUE COMMANDS</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Torque split logic</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scope_tsplit.png"/>
          <p:cNvPicPr>
            <a:picLocks noChangeAspect="1"/>
          </p:cNvPicPr>
          <p:nvPr/>
        </p:nvPicPr>
        <p:blipFill>
          <a:blip r:embed="rId3"/>
          <a:stretch>
            <a:fillRect/>
          </a:stretch>
        </p:blipFill>
        <p:spPr>
          <a:xfrm>
            <a:off x="566928" y="1492829"/>
            <a:ext cx="5303520" cy="2272143"/>
          </a:xfrm>
          <a:prstGeom prst="rect">
            <a:avLst/>
          </a:prstGeom>
        </p:spPr>
      </p:pic>
      <p:sp>
        <p:nvSpPr>
          <p:cNvPr id="7" name="Text 4"/>
          <p:cNvSpPr/>
          <p:nvPr/>
        </p:nvSpPr>
        <p:spPr>
          <a:xfrm>
            <a:off x="566928" y="4078224"/>
            <a:ext cx="530352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Torque_Split_Calculator outputs</a:t>
            </a:r>
            <a:endParaRPr lang="en-US" sz="850" dirty="0"/>
          </a:p>
        </p:txBody>
      </p:sp>
      <p:pic>
        <p:nvPicPr>
          <p:cNvPr id="8" name="Image 1" descr="/mnt/data/ppt_assets/scope_torque.png"/>
          <p:cNvPicPr>
            <a:picLocks noChangeAspect="1"/>
          </p:cNvPicPr>
          <p:nvPr/>
        </p:nvPicPr>
        <p:blipFill>
          <a:blip r:embed="rId4"/>
          <a:stretch>
            <a:fillRect/>
          </a:stretch>
        </p:blipFill>
        <p:spPr>
          <a:xfrm>
            <a:off x="6217920" y="1478922"/>
            <a:ext cx="5394960" cy="2299957"/>
          </a:xfrm>
          <a:prstGeom prst="rect">
            <a:avLst/>
          </a:prstGeom>
        </p:spPr>
      </p:pic>
      <p:sp>
        <p:nvSpPr>
          <p:cNvPr id="9" name="Text 5"/>
          <p:cNvSpPr/>
          <p:nvPr/>
        </p:nvSpPr>
        <p:spPr>
          <a:xfrm>
            <a:off x="6217920" y="4078224"/>
            <a:ext cx="539496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Scope_Torque: motor, engine, generator and SOC</a:t>
            </a:r>
            <a:endParaRPr lang="en-US" sz="850" dirty="0"/>
          </a:p>
        </p:txBody>
      </p:sp>
      <p:sp>
        <p:nvSpPr>
          <p:cNvPr id="10" name="Text 6"/>
          <p:cNvSpPr/>
          <p:nvPr/>
        </p:nvSpPr>
        <p:spPr>
          <a:xfrm>
            <a:off x="822960" y="4590288"/>
            <a:ext cx="10469880" cy="868680"/>
          </a:xfrm>
          <a:prstGeom prst="rect">
            <a:avLst/>
          </a:prstGeom>
          <a:noFill/>
          <a:ln/>
        </p:spPr>
        <p:txBody>
          <a:bodyPr wrap="square" lIns="73152" tIns="36576" rIns="73152" bIns="36576" rtlCol="0" anchor="t">
            <a:normAutofit/>
          </a:bodyPr>
          <a:lstStyle/>
          <a:p>
            <a:pPr marL="0" indent="0" algn="ctr">
              <a:buNone/>
            </a:pPr>
            <a:r>
              <a:rPr sz="1300" b="0">
                <a:solidFill>
                  <a:srgbClr val="212D3C"/>
                </a:solidFill>
                <a:latin typeface="Aptos"/>
              </a:rPr>
              <a:t>Drive Cycle 2 interpretation: motor torque is the active propulsion contributor in this run, while engine/generator values remain near zero. The SOC trace slowly decreases, showing battery energy is being used for traction. In viva, use this slide to connect EMS command outputs with actual torque behavior.</a:t>
            </a:r>
            <a:endParaRPr lang="en-US" sz="1420" dirty="0"/>
          </a:p>
        </p:txBody>
      </p:sp>
      <p:sp>
        <p:nvSpPr>
          <p:cNvPr id="11" name="Shape 7"/>
          <p:cNvSpPr/>
          <p:nvPr/>
        </p:nvSpPr>
        <p:spPr>
          <a:xfrm>
            <a:off x="2715768" y="6007608"/>
            <a:ext cx="173736" cy="0"/>
          </a:xfrm>
          <a:prstGeom prst="line">
            <a:avLst/>
          </a:prstGeom>
          <a:noFill/>
          <a:ln w="16510">
            <a:solidFill>
              <a:srgbClr val="2A6FBB"/>
            </a:solidFill>
            <a:prstDash val="solid"/>
            <a:headEnd type="none"/>
            <a:tailEnd type="triangle"/>
          </a:ln>
        </p:spPr>
        <p:txBody>
          <a:bodyPr/>
          <a:lstStyle/>
          <a:p>
            <a:endParaRPr/>
          </a:p>
        </p:txBody>
      </p:sp>
      <p:sp>
        <p:nvSpPr>
          <p:cNvPr id="12" name="Shape 8"/>
          <p:cNvSpPr/>
          <p:nvPr/>
        </p:nvSpPr>
        <p:spPr>
          <a:xfrm>
            <a:off x="4901184" y="6007608"/>
            <a:ext cx="173736" cy="0"/>
          </a:xfrm>
          <a:prstGeom prst="line">
            <a:avLst/>
          </a:prstGeom>
          <a:noFill/>
          <a:ln w="16510">
            <a:solidFill>
              <a:srgbClr val="2A6FBB"/>
            </a:solidFill>
            <a:prstDash val="solid"/>
            <a:headEnd type="none"/>
            <a:tailEnd type="triangle"/>
          </a:ln>
        </p:spPr>
        <p:txBody>
          <a:bodyPr/>
          <a:lstStyle/>
          <a:p>
            <a:endParaRPr/>
          </a:p>
        </p:txBody>
      </p:sp>
      <p:sp>
        <p:nvSpPr>
          <p:cNvPr id="13" name="Shape 9"/>
          <p:cNvSpPr/>
          <p:nvPr/>
        </p:nvSpPr>
        <p:spPr>
          <a:xfrm>
            <a:off x="7086600" y="6007608"/>
            <a:ext cx="173736" cy="0"/>
          </a:xfrm>
          <a:prstGeom prst="line">
            <a:avLst/>
          </a:prstGeom>
          <a:noFill/>
          <a:ln w="16510">
            <a:solidFill>
              <a:srgbClr val="2A6FBB"/>
            </a:solidFill>
            <a:prstDash val="solid"/>
            <a:headEnd type="none"/>
            <a:tailEnd type="triangle"/>
          </a:ln>
        </p:spPr>
        <p:txBody>
          <a:bodyPr/>
          <a:lstStyle/>
          <a:p>
            <a:endParaRPr/>
          </a:p>
        </p:txBody>
      </p:sp>
      <p:sp>
        <p:nvSpPr>
          <p:cNvPr id="14" name="Shape 10"/>
          <p:cNvSpPr/>
          <p:nvPr/>
        </p:nvSpPr>
        <p:spPr>
          <a:xfrm>
            <a:off x="9272016" y="6007608"/>
            <a:ext cx="173736" cy="0"/>
          </a:xfrm>
          <a:prstGeom prst="line">
            <a:avLst/>
          </a:prstGeom>
          <a:noFill/>
          <a:ln w="16510">
            <a:solidFill>
              <a:srgbClr val="2A6FBB"/>
            </a:solidFill>
            <a:prstDash val="solid"/>
            <a:headEnd type="none"/>
            <a:tailEnd type="triangle"/>
          </a:ln>
        </p:spPr>
        <p:txBody>
          <a:bodyPr/>
          <a:lstStyle/>
          <a:p>
            <a:endParaRPr/>
          </a:p>
        </p:txBody>
      </p:sp>
      <p:sp>
        <p:nvSpPr>
          <p:cNvPr id="15" name="Text 11"/>
          <p:cNvSpPr/>
          <p:nvPr/>
        </p:nvSpPr>
        <p:spPr>
          <a:xfrm>
            <a:off x="685800" y="5715000"/>
            <a:ext cx="2048256"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Engine_Cmd</a:t>
            </a:r>
            <a:endParaRPr lang="en-US" sz="1050" dirty="0"/>
          </a:p>
        </p:txBody>
      </p:sp>
      <p:sp>
        <p:nvSpPr>
          <p:cNvPr id="16" name="Text 12"/>
          <p:cNvSpPr/>
          <p:nvPr/>
        </p:nvSpPr>
        <p:spPr>
          <a:xfrm>
            <a:off x="2871216" y="5715000"/>
            <a:ext cx="2048256"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Clutch_Cmd</a:t>
            </a:r>
            <a:endParaRPr lang="en-US" sz="1050" dirty="0"/>
          </a:p>
        </p:txBody>
      </p:sp>
      <p:sp>
        <p:nvSpPr>
          <p:cNvPr id="17" name="Text 13"/>
          <p:cNvSpPr/>
          <p:nvPr/>
        </p:nvSpPr>
        <p:spPr>
          <a:xfrm>
            <a:off x="5056632" y="5715000"/>
            <a:ext cx="2048256"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Gen_Load</a:t>
            </a:r>
            <a:endParaRPr lang="en-US" sz="1050" dirty="0"/>
          </a:p>
        </p:txBody>
      </p:sp>
      <p:sp>
        <p:nvSpPr>
          <p:cNvPr id="18" name="Text 14"/>
          <p:cNvSpPr/>
          <p:nvPr/>
        </p:nvSpPr>
        <p:spPr>
          <a:xfrm>
            <a:off x="7242048" y="5715000"/>
            <a:ext cx="2048256"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T_req + SOC + Grade</a:t>
            </a:r>
            <a:endParaRPr lang="en-US" sz="1050" dirty="0"/>
          </a:p>
        </p:txBody>
      </p:sp>
      <p:sp>
        <p:nvSpPr>
          <p:cNvPr id="19" name="Text 15"/>
          <p:cNvSpPr/>
          <p:nvPr/>
        </p:nvSpPr>
        <p:spPr>
          <a:xfrm>
            <a:off x="9427464" y="5715000"/>
            <a:ext cx="2048256" cy="594360"/>
          </a:xfrm>
          <a:prstGeom prst="rect">
            <a:avLst/>
          </a:prstGeom>
          <a:solidFill>
            <a:srgbClr val="FFFFFF"/>
          </a:solidFill>
          <a:ln w="12700">
            <a:solidFill>
              <a:srgbClr val="CBD7E5"/>
            </a:solidFill>
          </a:ln>
        </p:spPr>
        <p:txBody>
          <a:bodyPr wrap="square" lIns="508" tIns="508" rIns="508" bIns="508" rtlCol="0" anchor="ctr"/>
          <a:lstStyle/>
          <a:p>
            <a:pPr marL="0" indent="0" algn="ctr">
              <a:buNone/>
            </a:pPr>
            <a:r>
              <a:rPr lang="en-US" sz="1050" b="1" dirty="0">
                <a:solidFill>
                  <a:srgbClr val="172A45"/>
                </a:solidFill>
              </a:rPr>
              <a:t>T_engine / T_motor / T_gen</a:t>
            </a:r>
            <a:endParaRPr lang="en-US" sz="1050" dirty="0"/>
          </a:p>
        </p:txBody>
      </p:sp>
      <p:sp>
        <p:nvSpPr>
          <p:cNvPr id="20" name="Shape 16"/>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21" name="Text 17"/>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22" name="Text 18"/>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07</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PACK-LEVEL ECM WITH DISCRETE UPDATE</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Battery subsystem</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battery.png"/>
          <p:cNvPicPr>
            <a:picLocks noChangeAspect="1"/>
          </p:cNvPicPr>
          <p:nvPr/>
        </p:nvPicPr>
        <p:blipFill>
          <a:blip r:embed="rId3"/>
          <a:stretch>
            <a:fillRect/>
          </a:stretch>
        </p:blipFill>
        <p:spPr>
          <a:xfrm>
            <a:off x="594360" y="1400175"/>
            <a:ext cx="5943600" cy="2914650"/>
          </a:xfrm>
          <a:prstGeom prst="rect">
            <a:avLst/>
          </a:prstGeom>
        </p:spPr>
      </p:pic>
      <p:sp>
        <p:nvSpPr>
          <p:cNvPr id="7" name="Text 4"/>
          <p:cNvSpPr/>
          <p:nvPr/>
        </p:nvSpPr>
        <p:spPr>
          <a:xfrm>
            <a:off x="594360" y="4626864"/>
            <a:ext cx="594360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Battery subsystem: net current, OCV/R0 lookup, BatteryECM and delays</a:t>
            </a:r>
            <a:endParaRPr lang="en-US" sz="850" dirty="0"/>
          </a:p>
        </p:txBody>
      </p:sp>
      <p:sp>
        <p:nvSpPr>
          <p:cNvPr id="8" name="Text 5"/>
          <p:cNvSpPr/>
          <p:nvPr/>
        </p:nvSpPr>
        <p:spPr>
          <a:xfrm>
            <a:off x="6903720" y="1417320"/>
            <a:ext cx="4434840" cy="1508760"/>
          </a:xfrm>
          <a:prstGeom prst="rect">
            <a:avLst/>
          </a:prstGeom>
          <a:solidFill>
            <a:srgbClr val="FFFFFF"/>
          </a:solidFill>
          <a:ln w="10160">
            <a:solidFill>
              <a:srgbClr val="D8E1EA"/>
            </a:solidFill>
          </a:ln>
        </p:spPr>
        <p:txBody>
          <a:bodyPr wrap="square" lIns="73152" tIns="36576" rIns="73152" bIns="36576" rtlCol="0" anchor="ctr">
            <a:normAutofit/>
          </a:bodyPr>
          <a:lstStyle/>
          <a:p>
            <a:pPr marL="0" indent="0">
              <a:buNone/>
            </a:pPr>
            <a:r>
              <a:rPr sz="1100" b="0">
                <a:solidFill>
                  <a:srgbClr val="212D3C"/>
                </a:solidFill>
                <a:latin typeface="Aptos"/>
              </a:rPr>
              <a:t>Discrete ECM update:</a:t>
            </a:r>
            <a:br/>
            <a:r>
              <a:rPr sz="1100" b="0">
                <a:solidFill>
                  <a:srgbClr val="212D3C"/>
                </a:solidFill>
                <a:latin typeface="Aptos"/>
              </a:rPr>
              <a:t>I_batt = I_motor − I_gen</a:t>
            </a:r>
            <a:br/>
            <a:r>
              <a:rPr sz="1100" b="0">
                <a:solidFill>
                  <a:srgbClr val="212D3C"/>
                </a:solidFill>
                <a:latin typeface="Aptos"/>
              </a:rPr>
              <a:t>SOC_new = SOC_in − I_batt·dt/(C_nom·3600)</a:t>
            </a:r>
            <a:br/>
            <a:r>
              <a:rPr sz="1100" b="0">
                <a:solidFill>
                  <a:srgbClr val="212D3C"/>
                </a:solidFill>
                <a:latin typeface="Aptos"/>
              </a:rPr>
              <a:t>V_RC_new = V_RC_in + dt·(−V_RC/(R1·C1)+I_batt/C1)</a:t>
            </a:r>
            <a:br/>
            <a:r>
              <a:rPr sz="1100" b="0">
                <a:solidFill>
                  <a:srgbClr val="212D3C"/>
                </a:solidFill>
                <a:latin typeface="Aptos"/>
              </a:rPr>
              <a:t>V_terminal = OCV_pack − I_battR0_pack − V_RC_pack</a:t>
            </a:r>
            <a:endParaRPr lang="en-US" sz="1350" dirty="0"/>
          </a:p>
        </p:txBody>
      </p:sp>
      <p:sp>
        <p:nvSpPr>
          <p:cNvPr id="9" name="Text 6"/>
          <p:cNvSpPr/>
          <p:nvPr/>
        </p:nvSpPr>
        <p:spPr>
          <a:xfrm>
            <a:off x="6903720" y="3246120"/>
            <a:ext cx="4434840" cy="228600"/>
          </a:xfrm>
          <a:prstGeom prst="rect">
            <a:avLst/>
          </a:prstGeom>
          <a:noFill/>
          <a:ln/>
        </p:spPr>
        <p:txBody>
          <a:bodyPr wrap="square" lIns="381" tIns="381" rIns="381" bIns="381" rtlCol="0" anchor="ctr">
            <a:normAutofit/>
          </a:bodyPr>
          <a:lstStyle/>
          <a:p>
            <a:pPr marL="0" indent="0">
              <a:buNone/>
            </a:pPr>
            <a:r>
              <a:rPr lang="en-US" sz="1300" b="1" dirty="0">
                <a:solidFill>
                  <a:srgbClr val="2A6FBB"/>
                </a:solidFill>
              </a:rPr>
              <a:t>What it estimates</a:t>
            </a:r>
            <a:endParaRPr lang="en-US" sz="1300" dirty="0"/>
          </a:p>
        </p:txBody>
      </p:sp>
      <p:sp>
        <p:nvSpPr>
          <p:cNvPr id="10" name="Text 7"/>
          <p:cNvSpPr/>
          <p:nvPr/>
        </p:nvSpPr>
        <p:spPr>
          <a:xfrm>
            <a:off x="6903720" y="3547872"/>
            <a:ext cx="4434840" cy="42976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SOC and terminal voltage based on motor power demand and generator charging current.</a:t>
            </a:r>
            <a:endParaRPr lang="en-US" sz="1150" dirty="0"/>
          </a:p>
        </p:txBody>
      </p:sp>
      <p:sp>
        <p:nvSpPr>
          <p:cNvPr id="11" name="Text 8"/>
          <p:cNvSpPr/>
          <p:nvPr/>
        </p:nvSpPr>
        <p:spPr>
          <a:xfrm>
            <a:off x="6903720" y="4187952"/>
            <a:ext cx="4434840" cy="228600"/>
          </a:xfrm>
          <a:prstGeom prst="rect">
            <a:avLst/>
          </a:prstGeom>
          <a:noFill/>
          <a:ln/>
        </p:spPr>
        <p:txBody>
          <a:bodyPr wrap="square" lIns="381" tIns="381" rIns="381" bIns="381" rtlCol="0" anchor="ctr">
            <a:normAutofit/>
          </a:bodyPr>
          <a:lstStyle/>
          <a:p>
            <a:pPr marL="0" indent="0">
              <a:buNone/>
            </a:pPr>
            <a:r>
              <a:rPr lang="en-US" sz="1300" b="1" dirty="0">
                <a:solidFill>
                  <a:srgbClr val="02A676"/>
                </a:solidFill>
              </a:rPr>
              <a:t>Why delays are used</a:t>
            </a:r>
            <a:endParaRPr lang="en-US" sz="1300" dirty="0"/>
          </a:p>
        </p:txBody>
      </p:sp>
      <p:sp>
        <p:nvSpPr>
          <p:cNvPr id="12" name="Text 9"/>
          <p:cNvSpPr/>
          <p:nvPr/>
        </p:nvSpPr>
        <p:spPr>
          <a:xfrm>
            <a:off x="6903720" y="4489704"/>
            <a:ext cx="4434840" cy="47548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1/z blocks hold SOC and V_RC states, making the ECM a discrete-time update rather than a pure algebraic loop.</a:t>
            </a:r>
            <a:endParaRPr lang="en-US" sz="1150" dirty="0"/>
          </a:p>
        </p:txBody>
      </p:sp>
      <p:sp>
        <p:nvSpPr>
          <p:cNvPr id="13" name="Text 10"/>
          <p:cNvSpPr/>
          <p:nvPr/>
        </p:nvSpPr>
        <p:spPr>
          <a:xfrm>
            <a:off x="868680" y="5733288"/>
            <a:ext cx="10332720" cy="384048"/>
          </a:xfrm>
          <a:prstGeom prst="rect">
            <a:avLst/>
          </a:prstGeom>
          <a:noFill/>
          <a:ln/>
        </p:spPr>
        <p:txBody>
          <a:bodyPr wrap="square" lIns="73152" tIns="36576" rIns="73152" bIns="36576" rtlCol="0" anchor="t">
            <a:normAutofit/>
          </a:bodyPr>
          <a:lstStyle/>
          <a:p>
            <a:pPr marL="0" indent="0" algn="ctr">
              <a:buNone/>
            </a:pPr>
            <a:r>
              <a:rPr sz="1200" b="0">
                <a:solidFill>
                  <a:srgbClr val="212D3C"/>
                </a:solidFill>
                <a:latin typeface="Aptos"/>
              </a:rPr>
              <a:t>Presenter note: Battery is modeled at pack level using N_series scaling. The model is suitable for energy-flow and SOC behavior demonstration; final validation requires real battery parameters.</a:t>
            </a:r>
            <a:endParaRPr lang="en-US" sz="1250" dirty="0"/>
          </a:p>
        </p:txBody>
      </p:sp>
      <p:sp>
        <p:nvSpPr>
          <p:cNvPr id="14" name="Shape 11"/>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5" name="Text 12"/>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16" name="Text 13"/>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08</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TORQUE LIMITING AND PROTECTION LAYER</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Motor control subsystem</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motor.png"/>
          <p:cNvPicPr>
            <a:picLocks noChangeAspect="1"/>
          </p:cNvPicPr>
          <p:nvPr/>
        </p:nvPicPr>
        <p:blipFill>
          <a:blip r:embed="rId3"/>
          <a:stretch>
            <a:fillRect/>
          </a:stretch>
        </p:blipFill>
        <p:spPr>
          <a:xfrm>
            <a:off x="502920" y="1587514"/>
            <a:ext cx="7315200" cy="2814293"/>
          </a:xfrm>
          <a:prstGeom prst="rect">
            <a:avLst/>
          </a:prstGeom>
        </p:spPr>
      </p:pic>
      <p:sp>
        <p:nvSpPr>
          <p:cNvPr id="7" name="Text 4"/>
          <p:cNvSpPr/>
          <p:nvPr/>
        </p:nvSpPr>
        <p:spPr>
          <a:xfrm>
            <a:off x="502920" y="4901184"/>
            <a:ext cx="731520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Motor_control subsystem</a:t>
            </a:r>
            <a:endParaRPr lang="en-US" sz="850" dirty="0"/>
          </a:p>
        </p:txBody>
      </p:sp>
      <p:sp>
        <p:nvSpPr>
          <p:cNvPr id="8" name="Text 5"/>
          <p:cNvSpPr/>
          <p:nvPr/>
        </p:nvSpPr>
        <p:spPr>
          <a:xfrm>
            <a:off x="8138160" y="1234440"/>
            <a:ext cx="3337560" cy="228600"/>
          </a:xfrm>
          <a:prstGeom prst="rect">
            <a:avLst/>
          </a:prstGeom>
          <a:noFill/>
          <a:ln/>
        </p:spPr>
        <p:txBody>
          <a:bodyPr wrap="square" lIns="381" tIns="381" rIns="381" bIns="381" rtlCol="0" anchor="ctr">
            <a:normAutofit/>
          </a:bodyPr>
          <a:lstStyle/>
          <a:p>
            <a:pPr marL="0" indent="0">
              <a:buNone/>
            </a:pPr>
            <a:r>
              <a:rPr lang="en-US" sz="1300" b="1" dirty="0">
                <a:solidFill>
                  <a:srgbClr val="2A6FBB"/>
                </a:solidFill>
              </a:rPr>
              <a:t>Speed-based torque limit</a:t>
            </a:r>
            <a:endParaRPr lang="en-US" sz="1300" dirty="0"/>
          </a:p>
        </p:txBody>
      </p:sp>
      <p:sp>
        <p:nvSpPr>
          <p:cNvPr id="9" name="Text 6"/>
          <p:cNvSpPr/>
          <p:nvPr/>
        </p:nvSpPr>
        <p:spPr>
          <a:xfrm>
            <a:off x="8138160" y="1536192"/>
            <a:ext cx="3337560" cy="356616"/>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T_max_base reduces available torque as motor speed increases.</a:t>
            </a:r>
            <a:endParaRPr lang="en-US" sz="1150" dirty="0"/>
          </a:p>
        </p:txBody>
      </p:sp>
      <p:sp>
        <p:nvSpPr>
          <p:cNvPr id="10" name="Text 7"/>
          <p:cNvSpPr/>
          <p:nvPr/>
        </p:nvSpPr>
        <p:spPr>
          <a:xfrm>
            <a:off x="8138160" y="2121408"/>
            <a:ext cx="3337560" cy="228600"/>
          </a:xfrm>
          <a:prstGeom prst="rect">
            <a:avLst/>
          </a:prstGeom>
          <a:noFill/>
          <a:ln/>
        </p:spPr>
        <p:txBody>
          <a:bodyPr wrap="square" lIns="381" tIns="381" rIns="381" bIns="381" rtlCol="0" anchor="ctr">
            <a:normAutofit/>
          </a:bodyPr>
          <a:lstStyle/>
          <a:p>
            <a:pPr marL="0" indent="0">
              <a:buNone/>
            </a:pPr>
            <a:r>
              <a:rPr lang="en-US" sz="1300" b="1" dirty="0">
                <a:solidFill>
                  <a:srgbClr val="27AE60"/>
                </a:solidFill>
              </a:rPr>
              <a:t>SOC derating</a:t>
            </a:r>
            <a:endParaRPr lang="en-US" sz="1300" dirty="0"/>
          </a:p>
        </p:txBody>
      </p:sp>
      <p:sp>
        <p:nvSpPr>
          <p:cNvPr id="11" name="Text 8"/>
          <p:cNvSpPr/>
          <p:nvPr/>
        </p:nvSpPr>
        <p:spPr>
          <a:xfrm>
            <a:off x="8138160" y="2423160"/>
            <a:ext cx="3337560" cy="47548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K_SOC blocks motor assistance at very low SOC and permits full torque above the threshold band.</a:t>
            </a:r>
            <a:endParaRPr lang="en-US" sz="1150" dirty="0"/>
          </a:p>
        </p:txBody>
      </p:sp>
      <p:sp>
        <p:nvSpPr>
          <p:cNvPr id="12" name="Text 9"/>
          <p:cNvSpPr/>
          <p:nvPr/>
        </p:nvSpPr>
        <p:spPr>
          <a:xfrm>
            <a:off x="8138160" y="3154680"/>
            <a:ext cx="3337560" cy="228600"/>
          </a:xfrm>
          <a:prstGeom prst="rect">
            <a:avLst/>
          </a:prstGeom>
          <a:noFill/>
          <a:ln/>
        </p:spPr>
        <p:txBody>
          <a:bodyPr wrap="square" lIns="381" tIns="381" rIns="381" bIns="381" rtlCol="0" anchor="ctr">
            <a:normAutofit/>
          </a:bodyPr>
          <a:lstStyle/>
          <a:p>
            <a:pPr marL="0" indent="0">
              <a:buNone/>
            </a:pPr>
            <a:r>
              <a:rPr lang="en-US" sz="1300" b="1" dirty="0">
                <a:solidFill>
                  <a:srgbClr val="F4A261"/>
                </a:solidFill>
              </a:rPr>
              <a:t>Regen protection</a:t>
            </a:r>
            <a:endParaRPr lang="en-US" sz="1300" dirty="0"/>
          </a:p>
        </p:txBody>
      </p:sp>
      <p:sp>
        <p:nvSpPr>
          <p:cNvPr id="13" name="Text 10"/>
          <p:cNvSpPr/>
          <p:nvPr/>
        </p:nvSpPr>
        <p:spPr>
          <a:xfrm>
            <a:off x="8138160" y="3456432"/>
            <a:ext cx="3337560" cy="411480"/>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K_regen blocks regenerative braking at high SOC to avoid overcharging.</a:t>
            </a:r>
            <a:endParaRPr lang="en-US" sz="1150" dirty="0"/>
          </a:p>
        </p:txBody>
      </p:sp>
      <p:sp>
        <p:nvSpPr>
          <p:cNvPr id="14" name="Text 11"/>
          <p:cNvSpPr/>
          <p:nvPr/>
        </p:nvSpPr>
        <p:spPr>
          <a:xfrm>
            <a:off x="8138160" y="4087368"/>
            <a:ext cx="3337560" cy="228600"/>
          </a:xfrm>
          <a:prstGeom prst="rect">
            <a:avLst/>
          </a:prstGeom>
          <a:noFill/>
          <a:ln/>
        </p:spPr>
        <p:txBody>
          <a:bodyPr wrap="square" lIns="381" tIns="381" rIns="381" bIns="381" rtlCol="0" anchor="ctr">
            <a:normAutofit/>
          </a:bodyPr>
          <a:lstStyle/>
          <a:p>
            <a:pPr marL="0" indent="0">
              <a:buNone/>
            </a:pPr>
            <a:r>
              <a:rPr lang="en-US" sz="1300" b="1" dirty="0">
                <a:solidFill>
                  <a:srgbClr val="5A667A"/>
                </a:solidFill>
              </a:rPr>
              <a:t>Dynamic saturation</a:t>
            </a:r>
            <a:endParaRPr lang="en-US" sz="1300" dirty="0"/>
          </a:p>
        </p:txBody>
      </p:sp>
      <p:sp>
        <p:nvSpPr>
          <p:cNvPr id="15" name="Text 12"/>
          <p:cNvSpPr/>
          <p:nvPr/>
        </p:nvSpPr>
        <p:spPr>
          <a:xfrm>
            <a:off x="8138160" y="4389120"/>
            <a:ext cx="3337560" cy="47548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Final torque is bounded between computed upper/lower limits, then converted into motor power.</a:t>
            </a:r>
            <a:endParaRPr lang="en-US" sz="1150" dirty="0"/>
          </a:p>
        </p:txBody>
      </p:sp>
      <p:sp>
        <p:nvSpPr>
          <p:cNvPr id="16" name="Shape 13"/>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7" name="Text 14"/>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18" name="Text 15"/>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09</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TORQUE COMMAND TO CHARGING CURRENT</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Generator control subsystem</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generator.png"/>
          <p:cNvPicPr>
            <a:picLocks noChangeAspect="1"/>
          </p:cNvPicPr>
          <p:nvPr/>
        </p:nvPicPr>
        <p:blipFill>
          <a:blip r:embed="rId3"/>
          <a:stretch>
            <a:fillRect/>
          </a:stretch>
        </p:blipFill>
        <p:spPr>
          <a:xfrm>
            <a:off x="502920" y="1803476"/>
            <a:ext cx="7132320" cy="2336647"/>
          </a:xfrm>
          <a:prstGeom prst="rect">
            <a:avLst/>
          </a:prstGeom>
        </p:spPr>
      </p:pic>
      <p:sp>
        <p:nvSpPr>
          <p:cNvPr id="7" name="Text 4"/>
          <p:cNvSpPr/>
          <p:nvPr/>
        </p:nvSpPr>
        <p:spPr>
          <a:xfrm>
            <a:off x="502920" y="4718304"/>
            <a:ext cx="713232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Generator_control subsystem with efficiency map and GeneratorPower block</a:t>
            </a:r>
            <a:endParaRPr lang="en-US" sz="850" dirty="0"/>
          </a:p>
        </p:txBody>
      </p:sp>
      <p:sp>
        <p:nvSpPr>
          <p:cNvPr id="8" name="Text 5"/>
          <p:cNvSpPr/>
          <p:nvPr/>
        </p:nvSpPr>
        <p:spPr>
          <a:xfrm>
            <a:off x="7909560" y="1508760"/>
            <a:ext cx="3429000" cy="1371600"/>
          </a:xfrm>
          <a:prstGeom prst="rect">
            <a:avLst/>
          </a:prstGeom>
          <a:solidFill>
            <a:srgbClr val="FFFFFF"/>
          </a:solidFill>
          <a:ln w="10160">
            <a:solidFill>
              <a:srgbClr val="D8E1EA"/>
            </a:solidFill>
          </a:ln>
        </p:spPr>
        <p:txBody>
          <a:bodyPr wrap="square" lIns="1524" tIns="1524" rIns="1524" bIns="1524" rtlCol="0" anchor="ctr">
            <a:normAutofit/>
          </a:bodyPr>
          <a:lstStyle/>
          <a:p>
            <a:pPr marL="0" indent="0">
              <a:buNone/>
            </a:pPr>
            <a:r>
              <a:rPr lang="en-US" sz="1350" dirty="0">
                <a:solidFill>
                  <a:srgbClr val="1D2433"/>
                </a:solidFill>
                <a:latin typeface="Aptos Mono" pitchFamily="34" charset="0"/>
                <a:ea typeface="Aptos Mono" pitchFamily="34" charset="-122"/>
                <a:cs typeface="Aptos Mono" pitchFamily="34" charset="-120"/>
              </a:rPr>
              <a:t>T_gen_actual = saturate(Gen_Load · T_gen)</a:t>
            </a:r>
            <a:endParaRPr lang="en-US" sz="1350" dirty="0"/>
          </a:p>
          <a:p>
            <a:pPr marL="0" indent="0">
              <a:buNone/>
            </a:pPr>
            <a:r>
              <a:rPr lang="en-US" sz="1350" dirty="0">
                <a:solidFill>
                  <a:srgbClr val="1D2433"/>
                </a:solidFill>
                <a:latin typeface="Aptos Mono" pitchFamily="34" charset="0"/>
                <a:ea typeface="Aptos Mono" pitchFamily="34" charset="-122"/>
                <a:cs typeface="Aptos Mono" pitchFamily="34" charset="-120"/>
              </a:rPr>
              <a:t>η = LUT(omega_eng, T_gen_actual)</a:t>
            </a:r>
            <a:endParaRPr lang="en-US" sz="1350" dirty="0"/>
          </a:p>
          <a:p>
            <a:pPr marL="0" indent="0">
              <a:buNone/>
            </a:pPr>
            <a:r>
              <a:rPr lang="en-US" sz="1350" dirty="0">
                <a:solidFill>
                  <a:srgbClr val="1D2433"/>
                </a:solidFill>
                <a:latin typeface="Aptos Mono" pitchFamily="34" charset="0"/>
                <a:ea typeface="Aptos Mono" pitchFamily="34" charset="-122"/>
                <a:cs typeface="Aptos Mono" pitchFamily="34" charset="-120"/>
              </a:rPr>
              <a:t>P_gen = T_gen_sat · omega_eng · η</a:t>
            </a:r>
            <a:endParaRPr lang="en-US" sz="1350" dirty="0"/>
          </a:p>
          <a:p>
            <a:pPr marL="0" indent="0">
              <a:buNone/>
            </a:pPr>
            <a:r>
              <a:rPr lang="en-US" sz="1350" dirty="0">
                <a:solidFill>
                  <a:srgbClr val="1D2433"/>
                </a:solidFill>
                <a:latin typeface="Aptos Mono" pitchFamily="34" charset="0"/>
                <a:ea typeface="Aptos Mono" pitchFamily="34" charset="-122"/>
                <a:cs typeface="Aptos Mono" pitchFamily="34" charset="-120"/>
              </a:rPr>
              <a:t>I_gen = clamp(P_gen / V_bat, 0, I_max_charge)</a:t>
            </a:r>
            <a:endParaRPr lang="en-US" sz="1350" dirty="0"/>
          </a:p>
        </p:txBody>
      </p:sp>
      <p:sp>
        <p:nvSpPr>
          <p:cNvPr id="9" name="Text 6"/>
          <p:cNvSpPr/>
          <p:nvPr/>
        </p:nvSpPr>
        <p:spPr>
          <a:xfrm>
            <a:off x="8001000" y="3246120"/>
            <a:ext cx="3246120" cy="731520"/>
          </a:xfrm>
          <a:prstGeom prst="rect">
            <a:avLst/>
          </a:prstGeom>
          <a:noFill/>
          <a:ln/>
        </p:spPr>
        <p:txBody>
          <a:bodyPr wrap="square" lIns="73152" tIns="36576" rIns="73152" bIns="36576" rtlCol="0" anchor="t">
            <a:normAutofit/>
          </a:bodyPr>
          <a:lstStyle/>
          <a:p>
            <a:pPr marL="0" indent="0" algn="l">
              <a:buNone/>
            </a:pPr>
            <a:r>
              <a:rPr sz="1200" b="0">
                <a:solidFill>
                  <a:srgbClr val="212D3C"/>
                </a:solidFill>
                <a:latin typeface="Aptos"/>
              </a:rPr>
              <a:t>Latest model correction: η from the 2-D efficiency LUT is connected to GeneratorPower. For the shown Drive Cycle 2 run, generator current is almost zero because the EMS does not strongly request charging in this case.</a:t>
            </a:r>
            <a:endParaRPr lang="en-US" sz="1400" dirty="0"/>
          </a:p>
        </p:txBody>
      </p:sp>
      <p:pic>
        <p:nvPicPr>
          <p:cNvPr id="10" name="Image 1" descr="/mnt/data/ppt_assets/scope_geneng.png"/>
          <p:cNvPicPr>
            <a:picLocks noChangeAspect="1"/>
          </p:cNvPicPr>
          <p:nvPr/>
        </p:nvPicPr>
        <p:blipFill>
          <a:blip r:embed="rId4"/>
          <a:stretch>
            <a:fillRect/>
          </a:stretch>
        </p:blipFill>
        <p:spPr>
          <a:xfrm>
            <a:off x="7909560" y="4188930"/>
            <a:ext cx="3429000" cy="1497661"/>
          </a:xfrm>
          <a:prstGeom prst="rect">
            <a:avLst/>
          </a:prstGeom>
        </p:spPr>
      </p:pic>
      <p:sp>
        <p:nvSpPr>
          <p:cNvPr id="11" name="Text 7"/>
          <p:cNvSpPr/>
          <p:nvPr/>
        </p:nvSpPr>
        <p:spPr>
          <a:xfrm>
            <a:off x="7909560" y="5769864"/>
            <a:ext cx="342900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Drive Cycle 2 generator/engine scope</a:t>
            </a:r>
            <a:endParaRPr lang="en-US" sz="850" dirty="0"/>
          </a:p>
        </p:txBody>
      </p:sp>
      <p:sp>
        <p:nvSpPr>
          <p:cNvPr id="12" name="Shape 8"/>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3" name="Text 9"/>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14" name="Text 10"/>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10</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MECHANICAL TOPOLOGY AND VEHICLE DYNAMICS</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Physical Plant: Simscape driveline</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physical_full.png"/>
          <p:cNvPicPr>
            <a:picLocks noChangeAspect="1"/>
          </p:cNvPicPr>
          <p:nvPr/>
        </p:nvPicPr>
        <p:blipFill>
          <a:blip r:embed="rId3"/>
          <a:stretch>
            <a:fillRect/>
          </a:stretch>
        </p:blipFill>
        <p:spPr>
          <a:xfrm>
            <a:off x="1504009" y="1051560"/>
            <a:ext cx="9107782" cy="2971800"/>
          </a:xfrm>
          <a:prstGeom prst="rect">
            <a:avLst/>
          </a:prstGeom>
        </p:spPr>
      </p:pic>
      <p:pic>
        <p:nvPicPr>
          <p:cNvPr id="7" name="Image 1" descr="/mnt/data/ppt_assets/engine_clutch.png"/>
          <p:cNvPicPr>
            <a:picLocks noChangeAspect="1"/>
          </p:cNvPicPr>
          <p:nvPr/>
        </p:nvPicPr>
        <p:blipFill>
          <a:blip r:embed="rId4"/>
          <a:stretch>
            <a:fillRect/>
          </a:stretch>
        </p:blipFill>
        <p:spPr>
          <a:xfrm>
            <a:off x="621792" y="4642092"/>
            <a:ext cx="3383280" cy="701063"/>
          </a:xfrm>
          <a:prstGeom prst="rect">
            <a:avLst/>
          </a:prstGeom>
        </p:spPr>
      </p:pic>
      <p:sp>
        <p:nvSpPr>
          <p:cNvPr id="8" name="Text 4"/>
          <p:cNvSpPr/>
          <p:nvPr/>
        </p:nvSpPr>
        <p:spPr>
          <a:xfrm>
            <a:off x="621792" y="5596128"/>
            <a:ext cx="338328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Engine + clutch path</a:t>
            </a:r>
            <a:endParaRPr lang="en-US" sz="850" dirty="0"/>
          </a:p>
        </p:txBody>
      </p:sp>
      <p:pic>
        <p:nvPicPr>
          <p:cNvPr id="9" name="Image 2" descr="/mnt/data/ppt_assets/motor_gen_closeup.png"/>
          <p:cNvPicPr>
            <a:picLocks noChangeAspect="1"/>
          </p:cNvPicPr>
          <p:nvPr/>
        </p:nvPicPr>
        <p:blipFill>
          <a:blip r:embed="rId5"/>
          <a:stretch>
            <a:fillRect/>
          </a:stretch>
        </p:blipFill>
        <p:spPr>
          <a:xfrm>
            <a:off x="4447939" y="4251960"/>
            <a:ext cx="2662138" cy="1508760"/>
          </a:xfrm>
          <a:prstGeom prst="rect">
            <a:avLst/>
          </a:prstGeom>
        </p:spPr>
      </p:pic>
      <p:sp>
        <p:nvSpPr>
          <p:cNvPr id="10" name="Text 5"/>
          <p:cNvSpPr/>
          <p:nvPr/>
        </p:nvSpPr>
        <p:spPr>
          <a:xfrm>
            <a:off x="4315968" y="5815584"/>
            <a:ext cx="292608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Motor/generator torque source path</a:t>
            </a:r>
            <a:endParaRPr lang="en-US" sz="850" dirty="0"/>
          </a:p>
        </p:txBody>
      </p:sp>
      <p:pic>
        <p:nvPicPr>
          <p:cNvPr id="11" name="Image 3" descr="/mnt/data/ppt_assets/vehicle_closeup.png"/>
          <p:cNvPicPr>
            <a:picLocks noChangeAspect="1"/>
          </p:cNvPicPr>
          <p:nvPr/>
        </p:nvPicPr>
        <p:blipFill>
          <a:blip r:embed="rId6"/>
          <a:stretch>
            <a:fillRect/>
          </a:stretch>
        </p:blipFill>
        <p:spPr>
          <a:xfrm>
            <a:off x="8142948" y="4251960"/>
            <a:ext cx="2678761" cy="1508760"/>
          </a:xfrm>
          <a:prstGeom prst="rect">
            <a:avLst/>
          </a:prstGeom>
        </p:spPr>
      </p:pic>
      <p:sp>
        <p:nvSpPr>
          <p:cNvPr id="12" name="Text 6"/>
          <p:cNvSpPr/>
          <p:nvPr/>
        </p:nvSpPr>
        <p:spPr>
          <a:xfrm>
            <a:off x="7699248" y="5815584"/>
            <a:ext cx="356616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Tire, vehicle body and grade conversion</a:t>
            </a:r>
            <a:endParaRPr lang="en-US" sz="850" dirty="0"/>
          </a:p>
        </p:txBody>
      </p:sp>
      <p:sp>
        <p:nvSpPr>
          <p:cNvPr id="13" name="Text 7"/>
          <p:cNvSpPr/>
          <p:nvPr/>
        </p:nvSpPr>
        <p:spPr>
          <a:xfrm>
            <a:off x="822960" y="6144768"/>
            <a:ext cx="10515600" cy="256032"/>
          </a:xfrm>
          <a:prstGeom prst="rect">
            <a:avLst/>
          </a:prstGeom>
          <a:noFill/>
          <a:ln/>
        </p:spPr>
        <p:txBody>
          <a:bodyPr wrap="square" lIns="73152" tIns="36576" rIns="73152" bIns="36576" rtlCol="0" anchor="t">
            <a:normAutofit/>
          </a:bodyPr>
          <a:lstStyle/>
          <a:p>
            <a:pPr marL="0" indent="0" algn="ctr">
              <a:buNone/>
            </a:pPr>
            <a:r>
              <a:rPr sz="1150" b="0">
                <a:solidFill>
                  <a:srgbClr val="212D3C"/>
                </a:solidFill>
                <a:latin typeface="Aptos"/>
              </a:rPr>
              <a:t>The plant converts control outputs into physical response: ideal torque sources create shaft torque, gears transmit it to wheels, tire/vehicle body generate longitudinal motion, and sensors return speed and engine feedback.</a:t>
            </a:r>
            <a:endParaRPr lang="en-US" sz="1250" dirty="0"/>
          </a:p>
        </p:txBody>
      </p:sp>
      <p:sp>
        <p:nvSpPr>
          <p:cNvPr id="14" name="Shape 8"/>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5" name="Text 9"/>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16" name="Text 10"/>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11</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FEEDBACK SIGNALS USED BY EMS AND SCOPES</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Engine and sensing path</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engine_sensor.png"/>
          <p:cNvPicPr>
            <a:picLocks noChangeAspect="1"/>
          </p:cNvPicPr>
          <p:nvPr/>
        </p:nvPicPr>
        <p:blipFill>
          <a:blip r:embed="rId3"/>
          <a:stretch>
            <a:fillRect/>
          </a:stretch>
        </p:blipFill>
        <p:spPr>
          <a:xfrm>
            <a:off x="548640" y="1604205"/>
            <a:ext cx="5394960" cy="1912230"/>
          </a:xfrm>
          <a:prstGeom prst="rect">
            <a:avLst/>
          </a:prstGeom>
        </p:spPr>
      </p:pic>
      <p:sp>
        <p:nvSpPr>
          <p:cNvPr id="7" name="Text 4"/>
          <p:cNvSpPr/>
          <p:nvPr/>
        </p:nvSpPr>
        <p:spPr>
          <a:xfrm>
            <a:off x="548640" y="3986784"/>
            <a:ext cx="539496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Engine torque/speed/power sensing subsystem</a:t>
            </a:r>
            <a:endParaRPr lang="en-US" sz="850" dirty="0"/>
          </a:p>
        </p:txBody>
      </p:sp>
      <p:pic>
        <p:nvPicPr>
          <p:cNvPr id="8" name="Image 1" descr="/mnt/data/ppt_assets/engine_clutch.png"/>
          <p:cNvPicPr>
            <a:picLocks noChangeAspect="1"/>
          </p:cNvPicPr>
          <p:nvPr/>
        </p:nvPicPr>
        <p:blipFill>
          <a:blip r:embed="rId4"/>
          <a:stretch>
            <a:fillRect/>
          </a:stretch>
        </p:blipFill>
        <p:spPr>
          <a:xfrm>
            <a:off x="6355080" y="1750729"/>
            <a:ext cx="5166360" cy="1070543"/>
          </a:xfrm>
          <a:prstGeom prst="rect">
            <a:avLst/>
          </a:prstGeom>
        </p:spPr>
      </p:pic>
      <p:sp>
        <p:nvSpPr>
          <p:cNvPr id="9" name="Text 5"/>
          <p:cNvSpPr/>
          <p:nvPr/>
        </p:nvSpPr>
        <p:spPr>
          <a:xfrm>
            <a:off x="6355080" y="3438144"/>
            <a:ext cx="516636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Engine torque command, throttle and clutch path</a:t>
            </a:r>
            <a:endParaRPr lang="en-US" sz="850" dirty="0"/>
          </a:p>
        </p:txBody>
      </p:sp>
      <p:pic>
        <p:nvPicPr>
          <p:cNvPr id="10" name="Image 2" descr="/mnt/data/ppt_assets/brake_closeup.png"/>
          <p:cNvPicPr>
            <a:picLocks noChangeAspect="1"/>
          </p:cNvPicPr>
          <p:nvPr/>
        </p:nvPicPr>
        <p:blipFill>
          <a:blip r:embed="rId5"/>
          <a:stretch>
            <a:fillRect/>
          </a:stretch>
        </p:blipFill>
        <p:spPr>
          <a:xfrm>
            <a:off x="6492240" y="4126214"/>
            <a:ext cx="2331720" cy="937292"/>
          </a:xfrm>
          <a:prstGeom prst="rect">
            <a:avLst/>
          </a:prstGeom>
        </p:spPr>
      </p:pic>
      <p:sp>
        <p:nvSpPr>
          <p:cNvPr id="11" name="Text 6"/>
          <p:cNvSpPr/>
          <p:nvPr/>
        </p:nvSpPr>
        <p:spPr>
          <a:xfrm>
            <a:off x="6492240" y="5266944"/>
            <a:ext cx="233172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Brake actuator close-up</a:t>
            </a:r>
            <a:endParaRPr lang="en-US" sz="850" dirty="0"/>
          </a:p>
        </p:txBody>
      </p:sp>
      <p:pic>
        <p:nvPicPr>
          <p:cNvPr id="12" name="Image 3" descr="/mnt/data/ppt_assets/vehicle_closeup.png"/>
          <p:cNvPicPr>
            <a:picLocks noChangeAspect="1"/>
          </p:cNvPicPr>
          <p:nvPr/>
        </p:nvPicPr>
        <p:blipFill>
          <a:blip r:embed="rId6"/>
          <a:stretch>
            <a:fillRect/>
          </a:stretch>
        </p:blipFill>
        <p:spPr>
          <a:xfrm>
            <a:off x="9144000" y="3821021"/>
            <a:ext cx="2423160" cy="1364798"/>
          </a:xfrm>
          <a:prstGeom prst="rect">
            <a:avLst/>
          </a:prstGeom>
        </p:spPr>
      </p:pic>
      <p:sp>
        <p:nvSpPr>
          <p:cNvPr id="13" name="Text 7"/>
          <p:cNvSpPr/>
          <p:nvPr/>
        </p:nvSpPr>
        <p:spPr>
          <a:xfrm>
            <a:off x="9144000" y="5312664"/>
            <a:ext cx="242316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Vehicle body speed feedback</a:t>
            </a:r>
            <a:endParaRPr lang="en-US" sz="850" dirty="0"/>
          </a:p>
        </p:txBody>
      </p:sp>
      <p:sp>
        <p:nvSpPr>
          <p:cNvPr id="14" name="Text 8"/>
          <p:cNvSpPr/>
          <p:nvPr/>
        </p:nvSpPr>
        <p:spPr>
          <a:xfrm>
            <a:off x="822960" y="4754880"/>
            <a:ext cx="5029200" cy="914400"/>
          </a:xfrm>
          <a:prstGeom prst="rect">
            <a:avLst/>
          </a:prstGeom>
          <a:noFill/>
          <a:ln/>
        </p:spPr>
        <p:txBody>
          <a:bodyPr wrap="square" lIns="381" tIns="381" rIns="381" bIns="381" rtlCol="0" anchor="t">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Engine speed is converted from rad/s to rpm, filtered and returned to control. Torque and angular speed are multiplied to estimate engine power.</a:t>
            </a:r>
            <a:endParaRPr lang="en-US" sz="1400" dirty="0"/>
          </a:p>
        </p:txBody>
      </p:sp>
      <p:sp>
        <p:nvSpPr>
          <p:cNvPr id="15" name="Shape 9"/>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6" name="Text 10"/>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17" name="Text 11"/>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12</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SPEED RESPONSE AND TORQUE BEHAVIOR</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Simulation results: Drive Cycle 2</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scope_speed.png"/>
          <p:cNvPicPr>
            <a:picLocks noChangeAspect="1"/>
          </p:cNvPicPr>
          <p:nvPr/>
        </p:nvPicPr>
        <p:blipFill>
          <a:blip r:embed="rId3"/>
          <a:stretch>
            <a:fillRect/>
          </a:stretch>
        </p:blipFill>
        <p:spPr>
          <a:xfrm>
            <a:off x="502920" y="1385107"/>
            <a:ext cx="5532120" cy="2441866"/>
          </a:xfrm>
          <a:prstGeom prst="rect">
            <a:avLst/>
          </a:prstGeom>
        </p:spPr>
      </p:pic>
      <p:sp>
        <p:nvSpPr>
          <p:cNvPr id="7" name="Text 4"/>
          <p:cNvSpPr/>
          <p:nvPr/>
        </p:nvSpPr>
        <p:spPr>
          <a:xfrm>
            <a:off x="502920" y="4123944"/>
            <a:ext cx="553212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Speed feedback and clutch command</a:t>
            </a:r>
            <a:endParaRPr lang="en-US" sz="850" dirty="0"/>
          </a:p>
        </p:txBody>
      </p:sp>
      <p:pic>
        <p:nvPicPr>
          <p:cNvPr id="8" name="Image 1" descr="/mnt/data/ppt_assets/scope_torque.png"/>
          <p:cNvPicPr>
            <a:picLocks noChangeAspect="1"/>
          </p:cNvPicPr>
          <p:nvPr/>
        </p:nvPicPr>
        <p:blipFill>
          <a:blip r:embed="rId4"/>
          <a:stretch>
            <a:fillRect/>
          </a:stretch>
        </p:blipFill>
        <p:spPr>
          <a:xfrm>
            <a:off x="6355080" y="1485298"/>
            <a:ext cx="5257800" cy="2241483"/>
          </a:xfrm>
          <a:prstGeom prst="rect">
            <a:avLst/>
          </a:prstGeom>
        </p:spPr>
      </p:pic>
      <p:sp>
        <p:nvSpPr>
          <p:cNvPr id="9" name="Text 5"/>
          <p:cNvSpPr/>
          <p:nvPr/>
        </p:nvSpPr>
        <p:spPr>
          <a:xfrm>
            <a:off x="6355080" y="4123944"/>
            <a:ext cx="525780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Torque split and SOC trend</a:t>
            </a:r>
            <a:endParaRPr lang="en-US" sz="850" dirty="0"/>
          </a:p>
        </p:txBody>
      </p:sp>
      <p:sp>
        <p:nvSpPr>
          <p:cNvPr id="10" name="Text 6"/>
          <p:cNvSpPr/>
          <p:nvPr/>
        </p:nvSpPr>
        <p:spPr>
          <a:xfrm>
            <a:off x="822960" y="4617720"/>
            <a:ext cx="4846320" cy="868680"/>
          </a:xfrm>
          <a:prstGeom prst="rect">
            <a:avLst/>
          </a:prstGeom>
          <a:noFill/>
          <a:ln/>
        </p:spPr>
        <p:txBody>
          <a:bodyPr wrap="square" lIns="73152" tIns="36576" rIns="73152" bIns="36576" rtlCol="0" anchor="t">
            <a:normAutofit/>
          </a:bodyPr>
          <a:lstStyle/>
          <a:p>
            <a:pPr marL="0" indent="0" algn="l">
              <a:buNone/>
            </a:pPr>
            <a:r>
              <a:rPr sz="1200" b="0">
                <a:solidFill>
                  <a:srgbClr val="212D3C"/>
                </a:solidFill>
                <a:latin typeface="Aptos"/>
              </a:rPr>
              <a:t>Speed result: the actual vehicle speed follows the Drive Cycle 2 pattern with acceleration, cruise and deceleration segments. This validates the closed-loop connection from control → plant → feedback.</a:t>
            </a:r>
            <a:endParaRPr lang="en-US" sz="1420" dirty="0"/>
          </a:p>
        </p:txBody>
      </p:sp>
      <p:sp>
        <p:nvSpPr>
          <p:cNvPr id="11" name="Text 7"/>
          <p:cNvSpPr/>
          <p:nvPr/>
        </p:nvSpPr>
        <p:spPr>
          <a:xfrm>
            <a:off x="6537960" y="4617720"/>
            <a:ext cx="4846320" cy="868680"/>
          </a:xfrm>
          <a:prstGeom prst="rect">
            <a:avLst/>
          </a:prstGeom>
          <a:noFill/>
          <a:ln/>
        </p:spPr>
        <p:txBody>
          <a:bodyPr wrap="square" lIns="73152" tIns="36576" rIns="73152" bIns="36576" rtlCol="0" anchor="t">
            <a:normAutofit/>
          </a:bodyPr>
          <a:lstStyle/>
          <a:p>
            <a:pPr marL="0" indent="0" algn="l">
              <a:buNone/>
            </a:pPr>
            <a:r>
              <a:rPr sz="1200" b="0">
                <a:solidFill>
                  <a:srgbClr val="212D3C"/>
                </a:solidFill>
                <a:latin typeface="Aptos"/>
              </a:rPr>
              <a:t>Torque result: motor torque responds to acceleration demand. Engine/generator stay near zero in this specific case, so this run mainly demonstrates electric traction and SOC consumption.</a:t>
            </a:r>
            <a:endParaRPr lang="en-US" sz="1420" dirty="0"/>
          </a:p>
        </p:txBody>
      </p:sp>
      <p:sp>
        <p:nvSpPr>
          <p:cNvPr id="12" name="Shape 8"/>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3" name="Text 9"/>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14" name="Text 10"/>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13</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POWER, BATTERY AND COMMAND BEHAVIOR</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Simulation results: energy and mode signals</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scope_power.png"/>
          <p:cNvPicPr>
            <a:picLocks noChangeAspect="1"/>
          </p:cNvPicPr>
          <p:nvPr/>
        </p:nvPicPr>
        <p:blipFill>
          <a:blip r:embed="rId3"/>
          <a:stretch>
            <a:fillRect/>
          </a:stretch>
        </p:blipFill>
        <p:spPr>
          <a:xfrm>
            <a:off x="518812" y="1133856"/>
            <a:ext cx="5408897" cy="2331720"/>
          </a:xfrm>
          <a:prstGeom prst="rect">
            <a:avLst/>
          </a:prstGeom>
        </p:spPr>
      </p:pic>
      <p:sp>
        <p:nvSpPr>
          <p:cNvPr id="7" name="Text 4"/>
          <p:cNvSpPr/>
          <p:nvPr/>
        </p:nvSpPr>
        <p:spPr>
          <a:xfrm>
            <a:off x="502920" y="3520440"/>
            <a:ext cx="544068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Power exchange: engine, motor, generator</a:t>
            </a:r>
            <a:endParaRPr lang="en-US" sz="850" dirty="0"/>
          </a:p>
        </p:txBody>
      </p:sp>
      <p:pic>
        <p:nvPicPr>
          <p:cNvPr id="8" name="Image 1" descr="/mnt/data/ppt_assets/scope_battery.png"/>
          <p:cNvPicPr>
            <a:picLocks noChangeAspect="1"/>
          </p:cNvPicPr>
          <p:nvPr/>
        </p:nvPicPr>
        <p:blipFill>
          <a:blip r:embed="rId4"/>
          <a:stretch>
            <a:fillRect/>
          </a:stretch>
        </p:blipFill>
        <p:spPr>
          <a:xfrm>
            <a:off x="6355080" y="1176384"/>
            <a:ext cx="5257800" cy="2246665"/>
          </a:xfrm>
          <a:prstGeom prst="rect">
            <a:avLst/>
          </a:prstGeom>
        </p:spPr>
      </p:pic>
      <p:sp>
        <p:nvSpPr>
          <p:cNvPr id="9" name="Text 5"/>
          <p:cNvSpPr/>
          <p:nvPr/>
        </p:nvSpPr>
        <p:spPr>
          <a:xfrm>
            <a:off x="6355080" y="3520440"/>
            <a:ext cx="525780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Battery SOC, terminal voltage and I_gen</a:t>
            </a:r>
            <a:endParaRPr lang="en-US" sz="850" dirty="0"/>
          </a:p>
        </p:txBody>
      </p:sp>
      <p:pic>
        <p:nvPicPr>
          <p:cNvPr id="10" name="Image 2" descr="/mnt/data/ppt_assets/scope_mode.png"/>
          <p:cNvPicPr>
            <a:picLocks noChangeAspect="1"/>
          </p:cNvPicPr>
          <p:nvPr/>
        </p:nvPicPr>
        <p:blipFill>
          <a:blip r:embed="rId5"/>
          <a:stretch>
            <a:fillRect/>
          </a:stretch>
        </p:blipFill>
        <p:spPr>
          <a:xfrm>
            <a:off x="1229363" y="3977640"/>
            <a:ext cx="3987794" cy="1737360"/>
          </a:xfrm>
          <a:prstGeom prst="rect">
            <a:avLst/>
          </a:prstGeom>
        </p:spPr>
      </p:pic>
      <p:sp>
        <p:nvSpPr>
          <p:cNvPr id="11" name="Text 6"/>
          <p:cNvSpPr/>
          <p:nvPr/>
        </p:nvSpPr>
        <p:spPr>
          <a:xfrm>
            <a:off x="502920" y="5769864"/>
            <a:ext cx="544068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Mode command scope: Clutch_Cmd and Gen_Load</a:t>
            </a:r>
            <a:endParaRPr lang="en-US" sz="850" dirty="0"/>
          </a:p>
        </p:txBody>
      </p:sp>
      <p:pic>
        <p:nvPicPr>
          <p:cNvPr id="12" name="Image 3" descr="/mnt/data/ppt_assets/scope_cmds.png"/>
          <p:cNvPicPr>
            <a:picLocks noChangeAspect="1"/>
          </p:cNvPicPr>
          <p:nvPr/>
        </p:nvPicPr>
        <p:blipFill>
          <a:blip r:embed="rId6"/>
          <a:stretch>
            <a:fillRect/>
          </a:stretch>
        </p:blipFill>
        <p:spPr>
          <a:xfrm>
            <a:off x="6965856" y="3977640"/>
            <a:ext cx="4036248" cy="1737360"/>
          </a:xfrm>
          <a:prstGeom prst="rect">
            <a:avLst/>
          </a:prstGeom>
        </p:spPr>
      </p:pic>
      <p:sp>
        <p:nvSpPr>
          <p:cNvPr id="13" name="Text 7"/>
          <p:cNvSpPr/>
          <p:nvPr/>
        </p:nvSpPr>
        <p:spPr>
          <a:xfrm>
            <a:off x="6355080" y="5769864"/>
            <a:ext cx="525780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Stateflow command scope: clutch, engine and generator load</a:t>
            </a:r>
            <a:endParaRPr lang="en-US" sz="850" dirty="0"/>
          </a:p>
        </p:txBody>
      </p:sp>
      <p:sp>
        <p:nvSpPr>
          <p:cNvPr id="14" name="Text 8"/>
          <p:cNvSpPr/>
          <p:nvPr/>
        </p:nvSpPr>
        <p:spPr>
          <a:xfrm>
            <a:off x="685800" y="6035040"/>
            <a:ext cx="10789920" cy="292608"/>
          </a:xfrm>
          <a:prstGeom prst="rect">
            <a:avLst/>
          </a:prstGeom>
          <a:noFill/>
          <a:ln/>
        </p:spPr>
        <p:txBody>
          <a:bodyPr wrap="square" lIns="73152" tIns="36576" rIns="73152" bIns="36576" rtlCol="0" anchor="t">
            <a:normAutofit/>
          </a:bodyPr>
          <a:lstStyle/>
          <a:p>
            <a:pPr marL="0" indent="0" algn="ctr">
              <a:buNone/>
            </a:pPr>
            <a:r>
              <a:rPr sz="1200" b="0">
                <a:solidFill>
                  <a:srgbClr val="212D3C"/>
                </a:solidFill>
                <a:latin typeface="Aptos"/>
              </a:rPr>
              <a:t>Drive Cycle 2 result summary: motor power dominates propulsion, battery voltage remains bounded, SOC decreases gradually, and mode-command scopes show why generator charging is inactive for this run.</a:t>
            </a:r>
            <a:endParaRPr lang="en-US" sz="1250" dirty="0"/>
          </a:p>
        </p:txBody>
      </p:sp>
      <p:sp>
        <p:nvSpPr>
          <p:cNvPr id="15" name="Shape 9"/>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6" name="Text 10"/>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17" name="Text 11"/>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14</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WHAT IS WORKING AND WHAT STILL NEEDS CHECKING</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Model status and validation checks</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top_level.png"/>
          <p:cNvPicPr>
            <a:picLocks noChangeAspect="1"/>
          </p:cNvPicPr>
          <p:nvPr/>
        </p:nvPicPr>
        <p:blipFill>
          <a:blip r:embed="rId3"/>
          <a:stretch>
            <a:fillRect/>
          </a:stretch>
        </p:blipFill>
        <p:spPr>
          <a:xfrm>
            <a:off x="882186" y="1143000"/>
            <a:ext cx="4590707" cy="2286000"/>
          </a:xfrm>
          <a:prstGeom prst="rect">
            <a:avLst/>
          </a:prstGeom>
        </p:spPr>
      </p:pic>
      <p:sp>
        <p:nvSpPr>
          <p:cNvPr id="7" name="Text 4"/>
          <p:cNvSpPr/>
          <p:nvPr/>
        </p:nvSpPr>
        <p:spPr>
          <a:xfrm>
            <a:off x="594360" y="3483864"/>
            <a:ext cx="516636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Integrated closed-loop model</a:t>
            </a:r>
            <a:endParaRPr lang="en-US" sz="850" dirty="0"/>
          </a:p>
        </p:txBody>
      </p:sp>
      <p:pic>
        <p:nvPicPr>
          <p:cNvPr id="8" name="Image 1" descr="/mnt/data/ppt_assets/scope_driver.png"/>
          <p:cNvPicPr>
            <a:picLocks noChangeAspect="1"/>
          </p:cNvPicPr>
          <p:nvPr/>
        </p:nvPicPr>
        <p:blipFill>
          <a:blip r:embed="rId4"/>
          <a:stretch>
            <a:fillRect/>
          </a:stretch>
        </p:blipFill>
        <p:spPr>
          <a:xfrm>
            <a:off x="665568" y="3886200"/>
            <a:ext cx="5023945" cy="1828800"/>
          </a:xfrm>
          <a:prstGeom prst="rect">
            <a:avLst/>
          </a:prstGeom>
        </p:spPr>
      </p:pic>
      <p:sp>
        <p:nvSpPr>
          <p:cNvPr id="9" name="Text 5"/>
          <p:cNvSpPr/>
          <p:nvPr/>
        </p:nvSpPr>
        <p:spPr>
          <a:xfrm>
            <a:off x="594360" y="5769864"/>
            <a:ext cx="516636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Closed-loop DriverPI response</a:t>
            </a:r>
            <a:endParaRPr lang="en-US" sz="850" dirty="0"/>
          </a:p>
        </p:txBody>
      </p:sp>
      <p:sp>
        <p:nvSpPr>
          <p:cNvPr id="10" name="Text 6"/>
          <p:cNvSpPr/>
          <p:nvPr/>
        </p:nvSpPr>
        <p:spPr>
          <a:xfrm>
            <a:off x="6263640" y="1143000"/>
            <a:ext cx="4983480" cy="228600"/>
          </a:xfrm>
          <a:prstGeom prst="rect">
            <a:avLst/>
          </a:prstGeom>
          <a:noFill/>
          <a:ln/>
        </p:spPr>
        <p:txBody>
          <a:bodyPr wrap="square" lIns="73152" tIns="18288" rIns="73152" bIns="18288" rtlCol="0" anchor="ctr">
            <a:normAutofit/>
          </a:bodyPr>
          <a:lstStyle/>
          <a:p>
            <a:pPr marL="0" indent="0">
              <a:buNone/>
            </a:pPr>
            <a:r>
              <a:rPr sz="1400" b="1">
                <a:solidFill>
                  <a:srgbClr val="246FAB"/>
                </a:solidFill>
                <a:latin typeface="Aptos"/>
              </a:rPr>
              <a:t>Verified from latest model</a:t>
            </a:r>
            <a:endParaRPr lang="en-US" sz="1300" dirty="0"/>
          </a:p>
        </p:txBody>
      </p:sp>
      <p:sp>
        <p:nvSpPr>
          <p:cNvPr id="11" name="Text 7"/>
          <p:cNvSpPr/>
          <p:nvPr/>
        </p:nvSpPr>
        <p:spPr>
          <a:xfrm>
            <a:off x="6263640" y="1444752"/>
            <a:ext cx="4983480" cy="612648"/>
          </a:xfrm>
          <a:prstGeom prst="rect">
            <a:avLst/>
          </a:prstGeom>
          <a:noFill/>
          <a:ln/>
        </p:spPr>
        <p:txBody>
          <a:bodyPr wrap="square" lIns="73152" tIns="18288" rIns="73152" bIns="18288" rtlCol="0" anchor="ctr">
            <a:normAutofit/>
          </a:bodyPr>
          <a:lstStyle/>
          <a:p>
            <a:pPr marL="0" indent="0">
              <a:buNone/>
            </a:pPr>
            <a:r>
              <a:rPr sz="1300" b="0">
                <a:solidFill>
                  <a:srgbClr val="212D3C"/>
                </a:solidFill>
                <a:latin typeface="Aptos"/>
              </a:rPr>
              <a:t>BatteryECM is discrete-time. GeneratorPower includes efficiency η. DriverPI uses PI logic. Physical Plant returns speed, power and engine-speed feedback.</a:t>
            </a:r>
            <a:endParaRPr lang="en-US" sz="1150" dirty="0"/>
          </a:p>
        </p:txBody>
      </p:sp>
      <p:sp>
        <p:nvSpPr>
          <p:cNvPr id="12" name="Text 8"/>
          <p:cNvSpPr/>
          <p:nvPr/>
        </p:nvSpPr>
        <p:spPr>
          <a:xfrm>
            <a:off x="6263640" y="2377440"/>
            <a:ext cx="4983480" cy="228600"/>
          </a:xfrm>
          <a:prstGeom prst="rect">
            <a:avLst/>
          </a:prstGeom>
          <a:noFill/>
          <a:ln/>
        </p:spPr>
        <p:txBody>
          <a:bodyPr wrap="square" lIns="381" tIns="381" rIns="381" bIns="381" rtlCol="0" anchor="ctr">
            <a:normAutofit/>
          </a:bodyPr>
          <a:lstStyle/>
          <a:p>
            <a:pPr marL="0" indent="0">
              <a:buNone/>
            </a:pPr>
            <a:r>
              <a:rPr lang="en-US" sz="1300" b="1" dirty="0">
                <a:solidFill>
                  <a:srgbClr val="2A6FBB"/>
                </a:solidFill>
              </a:rPr>
              <a:t>Simulation behavior</a:t>
            </a:r>
            <a:endParaRPr lang="en-US" sz="1300" dirty="0"/>
          </a:p>
        </p:txBody>
      </p:sp>
      <p:sp>
        <p:nvSpPr>
          <p:cNvPr id="13" name="Text 9"/>
          <p:cNvSpPr/>
          <p:nvPr/>
        </p:nvSpPr>
        <p:spPr>
          <a:xfrm>
            <a:off x="6263640" y="2679192"/>
            <a:ext cx="4983480" cy="56692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Speed response, torque demand and motor power show a coherent Drive Cycle 2 run. SOC remains bounded and voltage stays clamped.</a:t>
            </a:r>
            <a:endParaRPr lang="en-US" sz="1150" dirty="0"/>
          </a:p>
        </p:txBody>
      </p:sp>
      <p:sp>
        <p:nvSpPr>
          <p:cNvPr id="14" name="Text 10"/>
          <p:cNvSpPr/>
          <p:nvPr/>
        </p:nvSpPr>
        <p:spPr>
          <a:xfrm>
            <a:off x="6263640" y="3611880"/>
            <a:ext cx="4983480" cy="228600"/>
          </a:xfrm>
          <a:prstGeom prst="rect">
            <a:avLst/>
          </a:prstGeom>
          <a:noFill/>
          <a:ln/>
        </p:spPr>
        <p:txBody>
          <a:bodyPr wrap="square" lIns="381" tIns="381" rIns="381" bIns="381" rtlCol="0" anchor="ctr">
            <a:normAutofit/>
          </a:bodyPr>
          <a:lstStyle/>
          <a:p>
            <a:pPr marL="0" indent="0">
              <a:buNone/>
            </a:pPr>
            <a:r>
              <a:rPr lang="en-US" sz="1300" b="1" dirty="0">
                <a:solidFill>
                  <a:srgbClr val="F4A261"/>
                </a:solidFill>
              </a:rPr>
              <a:t>Important viva note</a:t>
            </a:r>
            <a:endParaRPr lang="en-US" sz="1300" dirty="0"/>
          </a:p>
        </p:txBody>
      </p:sp>
      <p:sp>
        <p:nvSpPr>
          <p:cNvPr id="15" name="Text 11"/>
          <p:cNvSpPr/>
          <p:nvPr/>
        </p:nvSpPr>
        <p:spPr>
          <a:xfrm>
            <a:off x="6263640" y="3913632"/>
            <a:ext cx="4983480" cy="61264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If asked why generator values are near zero, explain that current thresholds and selected Drive Cycle 2 keep the run mostly motor-dominant.</a:t>
            </a:r>
            <a:endParaRPr lang="en-US" sz="1150" dirty="0"/>
          </a:p>
        </p:txBody>
      </p:sp>
      <p:sp>
        <p:nvSpPr>
          <p:cNvPr id="16" name="Text 12"/>
          <p:cNvSpPr/>
          <p:nvPr/>
        </p:nvSpPr>
        <p:spPr>
          <a:xfrm>
            <a:off x="6263640" y="4846320"/>
            <a:ext cx="4983480" cy="228600"/>
          </a:xfrm>
          <a:prstGeom prst="rect">
            <a:avLst/>
          </a:prstGeom>
          <a:noFill/>
          <a:ln/>
        </p:spPr>
        <p:txBody>
          <a:bodyPr wrap="square" lIns="73152" tIns="18288" rIns="73152" bIns="18288" rtlCol="0" anchor="ctr">
            <a:normAutofit/>
          </a:bodyPr>
          <a:lstStyle/>
          <a:p>
            <a:pPr marL="0" indent="0">
              <a:buNone/>
            </a:pPr>
            <a:r>
              <a:rPr sz="1400" b="1">
                <a:solidFill>
                  <a:srgbClr val="DC463C"/>
                </a:solidFill>
                <a:latin typeface="Aptos"/>
              </a:rPr>
              <a:t>Open technical check</a:t>
            </a:r>
            <a:endParaRPr lang="en-US" sz="1300" dirty="0"/>
          </a:p>
        </p:txBody>
      </p:sp>
      <p:sp>
        <p:nvSpPr>
          <p:cNvPr id="17" name="Text 13"/>
          <p:cNvSpPr/>
          <p:nvPr/>
        </p:nvSpPr>
        <p:spPr>
          <a:xfrm>
            <a:off x="6263640" y="5148072"/>
            <a:ext cx="4983480" cy="411480"/>
          </a:xfrm>
          <a:prstGeom prst="rect">
            <a:avLst/>
          </a:prstGeom>
          <a:noFill/>
          <a:ln/>
        </p:spPr>
        <p:txBody>
          <a:bodyPr wrap="square" lIns="73152" tIns="18288" rIns="73152" bIns="18288" rtlCol="0" anchor="ctr">
            <a:normAutofit/>
          </a:bodyPr>
          <a:lstStyle/>
          <a:p>
            <a:pPr marL="0" indent="0">
              <a:buNone/>
            </a:pPr>
            <a:r>
              <a:rPr sz="1230" b="0">
                <a:solidFill>
                  <a:srgbClr val="212D3C"/>
                </a:solidFill>
                <a:latin typeface="Aptos"/>
              </a:rPr>
              <a:t>Confirm whether omega_eng used in power equations is rpm or rad/s. If it is rpm, power scaling should be corrected before final quantitative validation.</a:t>
            </a:r>
            <a:endParaRPr lang="en-US" sz="1150" dirty="0"/>
          </a:p>
        </p:txBody>
      </p:sp>
      <p:sp>
        <p:nvSpPr>
          <p:cNvPr id="18" name="Shape 14"/>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9" name="Text 15"/>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20" name="Text 16"/>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15</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HONEST ENGINEERING SCOPE</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Limitations and future upgrades</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sp>
        <p:nvSpPr>
          <p:cNvPr id="6" name="Text 4"/>
          <p:cNvSpPr/>
          <p:nvPr/>
        </p:nvSpPr>
        <p:spPr>
          <a:xfrm>
            <a:off x="777240" y="1234440"/>
            <a:ext cx="4937760" cy="228600"/>
          </a:xfrm>
          <a:prstGeom prst="rect">
            <a:avLst/>
          </a:prstGeom>
          <a:noFill/>
          <a:ln/>
        </p:spPr>
        <p:txBody>
          <a:bodyPr wrap="square" lIns="381" tIns="381" rIns="381" bIns="381" rtlCol="0" anchor="ctr">
            <a:normAutofit/>
          </a:bodyPr>
          <a:lstStyle/>
          <a:p>
            <a:pPr marL="0" indent="0">
              <a:buNone/>
            </a:pPr>
            <a:r>
              <a:rPr lang="en-US" sz="1300" b="1" dirty="0">
                <a:solidFill>
                  <a:srgbClr val="5A667A"/>
                </a:solidFill>
              </a:rPr>
              <a:t>Simplified powertrain</a:t>
            </a:r>
            <a:endParaRPr lang="en-US" sz="1300" dirty="0"/>
          </a:p>
        </p:txBody>
      </p:sp>
      <p:sp>
        <p:nvSpPr>
          <p:cNvPr id="7" name="Text 5"/>
          <p:cNvSpPr/>
          <p:nvPr/>
        </p:nvSpPr>
        <p:spPr>
          <a:xfrm>
            <a:off x="777240" y="1536192"/>
            <a:ext cx="4937760" cy="52120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Ideal torque sources and estimated parameters make the model control-oriented, not production-calibrated.</a:t>
            </a:r>
            <a:endParaRPr lang="en-US" sz="1150" dirty="0"/>
          </a:p>
        </p:txBody>
      </p:sp>
      <p:sp>
        <p:nvSpPr>
          <p:cNvPr id="8" name="Text 6"/>
          <p:cNvSpPr/>
          <p:nvPr/>
        </p:nvSpPr>
        <p:spPr>
          <a:xfrm>
            <a:off x="777240" y="2331720"/>
            <a:ext cx="4937760" cy="228600"/>
          </a:xfrm>
          <a:prstGeom prst="rect">
            <a:avLst/>
          </a:prstGeom>
          <a:noFill/>
          <a:ln/>
        </p:spPr>
        <p:txBody>
          <a:bodyPr wrap="square" lIns="381" tIns="381" rIns="381" bIns="381" rtlCol="0" anchor="ctr">
            <a:normAutofit/>
          </a:bodyPr>
          <a:lstStyle/>
          <a:p>
            <a:pPr marL="0" indent="0">
              <a:buNone/>
            </a:pPr>
            <a:r>
              <a:rPr lang="en-US" sz="1300" b="1" dirty="0">
                <a:solidFill>
                  <a:srgbClr val="2A6FBB"/>
                </a:solidFill>
              </a:rPr>
              <a:t>Drive-cycle and grade assumptions</a:t>
            </a:r>
            <a:endParaRPr lang="en-US" sz="1300" dirty="0"/>
          </a:p>
        </p:txBody>
      </p:sp>
      <p:sp>
        <p:nvSpPr>
          <p:cNvPr id="9" name="Text 7"/>
          <p:cNvSpPr/>
          <p:nvPr/>
        </p:nvSpPr>
        <p:spPr>
          <a:xfrm>
            <a:off x="777240" y="2633472"/>
            <a:ext cx="4937760" cy="52120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Drive Cycle 2 result is shown; more scenarios should be simulated across all dc_ts{1..6} and grades.</a:t>
            </a:r>
            <a:endParaRPr lang="en-US" sz="1150" dirty="0"/>
          </a:p>
        </p:txBody>
      </p:sp>
      <p:sp>
        <p:nvSpPr>
          <p:cNvPr id="10" name="Text 8"/>
          <p:cNvSpPr/>
          <p:nvPr/>
        </p:nvSpPr>
        <p:spPr>
          <a:xfrm>
            <a:off x="777240" y="3429000"/>
            <a:ext cx="4937760" cy="228600"/>
          </a:xfrm>
          <a:prstGeom prst="rect">
            <a:avLst/>
          </a:prstGeom>
          <a:noFill/>
          <a:ln/>
        </p:spPr>
        <p:txBody>
          <a:bodyPr wrap="square" lIns="381" tIns="381" rIns="381" bIns="381" rtlCol="0" anchor="ctr">
            <a:normAutofit/>
          </a:bodyPr>
          <a:lstStyle/>
          <a:p>
            <a:pPr marL="0" indent="0">
              <a:buNone/>
            </a:pPr>
            <a:r>
              <a:rPr lang="en-US" sz="1300" b="1" dirty="0">
                <a:solidFill>
                  <a:srgbClr val="27AE60"/>
                </a:solidFill>
              </a:rPr>
              <a:t>Battery parameter validation</a:t>
            </a:r>
            <a:endParaRPr lang="en-US" sz="1300" dirty="0"/>
          </a:p>
        </p:txBody>
      </p:sp>
      <p:sp>
        <p:nvSpPr>
          <p:cNvPr id="11" name="Text 9"/>
          <p:cNvSpPr/>
          <p:nvPr/>
        </p:nvSpPr>
        <p:spPr>
          <a:xfrm>
            <a:off x="777240" y="3730752"/>
            <a:ext cx="4937760" cy="521208"/>
          </a:xfrm>
          <a:prstGeom prst="rect">
            <a:avLst/>
          </a:prstGeom>
          <a:noFill/>
          <a:ln/>
        </p:spPr>
        <p:txBody>
          <a:bodyPr wrap="square" lIns="381" tIns="381" rIns="381" bIns="381" rtlCol="0" anchor="ctr">
            <a:normAutofit/>
          </a:bodyPr>
          <a:lstStyle/>
          <a:p>
            <a:pPr marL="0" indent="0">
              <a:buNone/>
            </a:pPr>
            <a:r>
              <a:rPr lang="en-US" sz="1150" dirty="0">
                <a:solidFill>
                  <a:srgbClr val="1D2433"/>
                </a:solidFill>
              </a:rPr>
              <a:t>C_nom, R1, C1, OCV and R0 maps should be aligned with a real battery pack or cited source.</a:t>
            </a:r>
            <a:endParaRPr lang="en-US" sz="1150" dirty="0"/>
          </a:p>
        </p:txBody>
      </p:sp>
      <p:sp>
        <p:nvSpPr>
          <p:cNvPr id="12" name="Text 10"/>
          <p:cNvSpPr/>
          <p:nvPr/>
        </p:nvSpPr>
        <p:spPr>
          <a:xfrm>
            <a:off x="777240" y="4526280"/>
            <a:ext cx="4937760" cy="228600"/>
          </a:xfrm>
          <a:prstGeom prst="rect">
            <a:avLst/>
          </a:prstGeom>
          <a:noFill/>
          <a:ln/>
        </p:spPr>
        <p:txBody>
          <a:bodyPr wrap="square" lIns="381" tIns="381" rIns="381" bIns="381" rtlCol="0" anchor="ctr">
            <a:normAutofit/>
          </a:bodyPr>
          <a:lstStyle/>
          <a:p>
            <a:pPr marL="0" indent="0">
              <a:buNone/>
            </a:pPr>
            <a:r>
              <a:rPr lang="en-US" sz="1300" b="1" dirty="0">
                <a:solidFill>
                  <a:srgbClr val="F4A261"/>
                </a:solidFill>
              </a:rPr>
              <a:t>Recommended upgrades</a:t>
            </a:r>
            <a:endParaRPr lang="en-US" sz="1300" dirty="0"/>
          </a:p>
        </p:txBody>
      </p:sp>
      <p:sp>
        <p:nvSpPr>
          <p:cNvPr id="13" name="Text 11"/>
          <p:cNvSpPr/>
          <p:nvPr/>
        </p:nvSpPr>
        <p:spPr>
          <a:xfrm>
            <a:off x="777240" y="4828032"/>
            <a:ext cx="4937760" cy="566928"/>
          </a:xfrm>
          <a:prstGeom prst="rect">
            <a:avLst/>
          </a:prstGeom>
          <a:noFill/>
          <a:ln/>
        </p:spPr>
        <p:txBody>
          <a:bodyPr wrap="square" lIns="73152" tIns="36576" rIns="73152" bIns="36576" rtlCol="0" anchor="ctr">
            <a:normAutofit/>
          </a:bodyPr>
          <a:lstStyle/>
          <a:p>
            <a:pPr marL="0" indent="0">
              <a:buNone/>
            </a:pPr>
            <a:r>
              <a:rPr sz="1200" b="0">
                <a:solidFill>
                  <a:srgbClr val="212D3C"/>
                </a:solidFill>
                <a:latin typeface="Aptos"/>
              </a:rPr>
              <a:t>Recommended upgrades: add fuel-consumption/BSFC map, motor efficiency map, SOC recovery test, mode-change hysteresis, and compare all six drive cycles instead of only Drive Cycle 2.</a:t>
            </a:r>
            <a:endParaRPr lang="en-US" sz="1150" dirty="0"/>
          </a:p>
        </p:txBody>
      </p:sp>
      <p:pic>
        <p:nvPicPr>
          <p:cNvPr id="14" name="Image 0" descr="/mnt/data/ppt_assets/stateflow_conditions.png"/>
          <p:cNvPicPr>
            <a:picLocks noChangeAspect="1"/>
          </p:cNvPicPr>
          <p:nvPr/>
        </p:nvPicPr>
        <p:blipFill>
          <a:blip r:embed="rId3"/>
          <a:stretch>
            <a:fillRect/>
          </a:stretch>
        </p:blipFill>
        <p:spPr>
          <a:xfrm>
            <a:off x="6172200" y="1507436"/>
            <a:ext cx="5212080" cy="1602849"/>
          </a:xfrm>
          <a:prstGeom prst="rect">
            <a:avLst/>
          </a:prstGeom>
        </p:spPr>
      </p:pic>
      <p:sp>
        <p:nvSpPr>
          <p:cNvPr id="15" name="Text 12"/>
          <p:cNvSpPr/>
          <p:nvPr/>
        </p:nvSpPr>
        <p:spPr>
          <a:xfrm>
            <a:off x="6172200" y="3438144"/>
            <a:ext cx="521208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EMS can be improved with hysteresis and validated thresholds</a:t>
            </a:r>
            <a:endParaRPr lang="en-US" sz="850" dirty="0"/>
          </a:p>
        </p:txBody>
      </p:sp>
      <p:pic>
        <p:nvPicPr>
          <p:cNvPr id="16" name="Image 1" descr="/mnt/data/ppt_assets/scope_power.png"/>
          <p:cNvPicPr>
            <a:picLocks noChangeAspect="1"/>
          </p:cNvPicPr>
          <p:nvPr/>
        </p:nvPicPr>
        <p:blipFill>
          <a:blip r:embed="rId4"/>
          <a:stretch>
            <a:fillRect/>
          </a:stretch>
        </p:blipFill>
        <p:spPr>
          <a:xfrm>
            <a:off x="6551047" y="3794760"/>
            <a:ext cx="4454386" cy="1920240"/>
          </a:xfrm>
          <a:prstGeom prst="rect">
            <a:avLst/>
          </a:prstGeom>
        </p:spPr>
      </p:pic>
      <p:sp>
        <p:nvSpPr>
          <p:cNvPr id="17" name="Text 13"/>
          <p:cNvSpPr/>
          <p:nvPr/>
        </p:nvSpPr>
        <p:spPr>
          <a:xfrm>
            <a:off x="6172200" y="5769864"/>
            <a:ext cx="521208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More result cases can validate engine/generator activity</a:t>
            </a:r>
            <a:endParaRPr lang="en-US" sz="850" dirty="0"/>
          </a:p>
        </p:txBody>
      </p:sp>
      <p:sp>
        <p:nvSpPr>
          <p:cNvPr id="18" name="Shape 14"/>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9" name="Text 15"/>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20" name="Text 16"/>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16</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A6FBB"/>
          </a:solidFill>
          <a:ln w="12700">
            <a:solidFill>
              <a:srgbClr val="333333">
                <a:alpha val="0"/>
              </a:srgbClr>
            </a:solidFill>
            <a:prstDash val="solid"/>
          </a:ln>
        </p:spPr>
        <p:txBody>
          <a:bodyPr/>
          <a:lstStyle/>
          <a:p>
            <a:endParaRPr/>
          </a:p>
        </p:txBody>
      </p:sp>
      <p:sp>
        <p:nvSpPr>
          <p:cNvPr id="3" name="Text 1"/>
          <p:cNvSpPr/>
          <p:nvPr/>
        </p:nvSpPr>
        <p:spPr>
          <a:xfrm>
            <a:off x="502920" y="164592"/>
            <a:ext cx="4389120" cy="201168"/>
          </a:xfrm>
          <a:prstGeom prst="rect">
            <a:avLst/>
          </a:prstGeom>
          <a:noFill/>
          <a:ln/>
        </p:spPr>
        <p:txBody>
          <a:bodyPr wrap="square" lIns="0" tIns="0" rIns="0" bIns="0" rtlCol="0" anchor="ctr"/>
          <a:lstStyle/>
          <a:p>
            <a:pPr marL="0" indent="0">
              <a:buNone/>
            </a:pPr>
            <a:r>
              <a:rPr lang="en-US" sz="950" b="1" dirty="0">
                <a:solidFill>
                  <a:srgbClr val="2A6FBB"/>
                </a:solidFill>
                <a:latin typeface="Aptos" pitchFamily="34" charset="0"/>
                <a:ea typeface="Aptos" pitchFamily="34" charset="-122"/>
                <a:cs typeface="Aptos" pitchFamily="34" charset="-120"/>
              </a:rPr>
              <a:t>WHAT THE HEV MODEL DEMONSTRATES</a:t>
            </a:r>
            <a:endParaRPr lang="en-US" sz="950" dirty="0"/>
          </a:p>
        </p:txBody>
      </p:sp>
      <p:sp>
        <p:nvSpPr>
          <p:cNvPr id="4" name="Text 2"/>
          <p:cNvSpPr/>
          <p:nvPr/>
        </p:nvSpPr>
        <p:spPr>
          <a:xfrm>
            <a:off x="502920" y="566928"/>
            <a:ext cx="7680960" cy="384048"/>
          </a:xfrm>
          <a:prstGeom prst="rect">
            <a:avLst/>
          </a:prstGeom>
          <a:noFill/>
          <a:ln/>
        </p:spPr>
        <p:txBody>
          <a:bodyPr wrap="square" lIns="0" tIns="0" rIns="0" bIns="0" rtlCol="0" anchor="ctr">
            <a:normAutofit/>
          </a:bodyPr>
          <a:lstStyle/>
          <a:p>
            <a:pPr marL="0" indent="0">
              <a:buNone/>
            </a:pPr>
            <a:r>
              <a:rPr lang="en-US" sz="2600" b="1" dirty="0">
                <a:solidFill>
                  <a:srgbClr val="172A45"/>
                </a:solidFill>
                <a:latin typeface="Aptos Display" pitchFamily="34" charset="0"/>
                <a:ea typeface="Aptos Display" pitchFamily="34" charset="-122"/>
                <a:cs typeface="Aptos Display" pitchFamily="34" charset="-120"/>
              </a:rPr>
              <a:t>Conclusion</a:t>
            </a:r>
            <a:endParaRPr lang="en-US" sz="2600" dirty="0"/>
          </a:p>
        </p:txBody>
      </p:sp>
      <p:sp>
        <p:nvSpPr>
          <p:cNvPr id="5" name="Shape 3"/>
          <p:cNvSpPr/>
          <p:nvPr/>
        </p:nvSpPr>
        <p:spPr>
          <a:xfrm>
            <a:off x="502920" y="1042416"/>
            <a:ext cx="11155680" cy="0"/>
          </a:xfrm>
          <a:prstGeom prst="line">
            <a:avLst/>
          </a:prstGeom>
          <a:noFill/>
          <a:ln w="10160">
            <a:solidFill>
              <a:srgbClr val="C8D2E0"/>
            </a:solidFill>
            <a:prstDash val="solid"/>
          </a:ln>
        </p:spPr>
        <p:txBody>
          <a:bodyPr/>
          <a:lstStyle/>
          <a:p>
            <a:endParaRPr/>
          </a:p>
        </p:txBody>
      </p:sp>
      <p:pic>
        <p:nvPicPr>
          <p:cNvPr id="6" name="Image 0" descr="/mnt/data/ppt_assets/top_level.png"/>
          <p:cNvPicPr>
            <a:picLocks noChangeAspect="1"/>
          </p:cNvPicPr>
          <p:nvPr/>
        </p:nvPicPr>
        <p:blipFill>
          <a:blip r:embed="rId3"/>
          <a:stretch>
            <a:fillRect/>
          </a:stretch>
        </p:blipFill>
        <p:spPr>
          <a:xfrm>
            <a:off x="6368586" y="1051560"/>
            <a:ext cx="4590707" cy="2286000"/>
          </a:xfrm>
          <a:prstGeom prst="rect">
            <a:avLst/>
          </a:prstGeom>
        </p:spPr>
      </p:pic>
      <p:sp>
        <p:nvSpPr>
          <p:cNvPr id="7" name="Text 4"/>
          <p:cNvSpPr/>
          <p:nvPr/>
        </p:nvSpPr>
        <p:spPr>
          <a:xfrm>
            <a:off x="6035040" y="3392424"/>
            <a:ext cx="525780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Complete integrated model</a:t>
            </a:r>
            <a:endParaRPr lang="en-US" sz="850" dirty="0"/>
          </a:p>
        </p:txBody>
      </p:sp>
      <p:pic>
        <p:nvPicPr>
          <p:cNvPr id="8" name="Image 1" descr="/mnt/data/ppt_assets/scope_torque.png"/>
          <p:cNvPicPr>
            <a:picLocks noChangeAspect="1"/>
          </p:cNvPicPr>
          <p:nvPr/>
        </p:nvPicPr>
        <p:blipFill>
          <a:blip r:embed="rId4"/>
          <a:stretch>
            <a:fillRect/>
          </a:stretch>
        </p:blipFill>
        <p:spPr>
          <a:xfrm>
            <a:off x="6465429" y="3749040"/>
            <a:ext cx="4397022" cy="1874520"/>
          </a:xfrm>
          <a:prstGeom prst="rect">
            <a:avLst/>
          </a:prstGeom>
        </p:spPr>
      </p:pic>
      <p:sp>
        <p:nvSpPr>
          <p:cNvPr id="9" name="Text 5"/>
          <p:cNvSpPr/>
          <p:nvPr/>
        </p:nvSpPr>
        <p:spPr>
          <a:xfrm>
            <a:off x="6035040" y="5678424"/>
            <a:ext cx="5257800" cy="201168"/>
          </a:xfrm>
          <a:prstGeom prst="rect">
            <a:avLst/>
          </a:prstGeom>
          <a:noFill/>
          <a:ln/>
        </p:spPr>
        <p:txBody>
          <a:bodyPr wrap="square" lIns="0" tIns="0" rIns="0" bIns="0" rtlCol="0" anchor="ctr">
            <a:normAutofit/>
          </a:bodyPr>
          <a:lstStyle/>
          <a:p>
            <a:pPr marL="0" indent="0" algn="ctr">
              <a:buNone/>
            </a:pPr>
            <a:r>
              <a:rPr lang="en-US" sz="850" i="1" dirty="0">
                <a:solidFill>
                  <a:srgbClr val="5A667A"/>
                </a:solidFill>
              </a:rPr>
              <a:t>Drive Cycle 2 torque/SOC result</a:t>
            </a:r>
            <a:endParaRPr lang="en-US" sz="850" dirty="0"/>
          </a:p>
        </p:txBody>
      </p:sp>
      <p:sp>
        <p:nvSpPr>
          <p:cNvPr id="10" name="Text 6"/>
          <p:cNvSpPr/>
          <p:nvPr/>
        </p:nvSpPr>
        <p:spPr>
          <a:xfrm>
            <a:off x="731520" y="1234440"/>
            <a:ext cx="4846320" cy="1417320"/>
          </a:xfrm>
          <a:prstGeom prst="rect">
            <a:avLst/>
          </a:prstGeom>
          <a:noFill/>
          <a:ln/>
        </p:spPr>
        <p:txBody>
          <a:bodyPr wrap="square" lIns="381" tIns="381" rIns="381" bIns="381" rtlCol="0" anchor="t">
            <a:normAutofit/>
          </a:bodyPr>
          <a:lstStyle/>
          <a:p>
            <a:pPr marL="0" indent="0" algn="l">
              <a:buNone/>
            </a:pPr>
            <a:r>
              <a:rPr lang="en-US" sz="1600" b="1" dirty="0">
                <a:solidFill>
                  <a:srgbClr val="172A45"/>
                </a:solidFill>
                <a:latin typeface="Aptos" pitchFamily="34" charset="0"/>
                <a:ea typeface="Aptos" pitchFamily="34" charset="-122"/>
                <a:cs typeface="Aptos" pitchFamily="34" charset="-120"/>
              </a:rPr>
              <a:t>The project successfully integrates a series-parallel HEV architecture in MATLAB Simulink and Stateflow. It includes a battery ECM, generator control, motor torque protection, Simscape physical plant, Stateflow EMS and dynamic torque-split logic.</a:t>
            </a:r>
            <a:endParaRPr lang="en-US" sz="1600" dirty="0"/>
          </a:p>
        </p:txBody>
      </p:sp>
      <p:sp>
        <p:nvSpPr>
          <p:cNvPr id="11" name="Text 7"/>
          <p:cNvSpPr/>
          <p:nvPr/>
        </p:nvSpPr>
        <p:spPr>
          <a:xfrm>
            <a:off x="731520" y="3063240"/>
            <a:ext cx="4846320" cy="1097280"/>
          </a:xfrm>
          <a:prstGeom prst="rect">
            <a:avLst/>
          </a:prstGeom>
          <a:noFill/>
          <a:ln/>
        </p:spPr>
        <p:txBody>
          <a:bodyPr wrap="square" lIns="381" tIns="381" rIns="381" bIns="381" rtlCol="0" anchor="t">
            <a:normAutofit/>
          </a:bodyPr>
          <a:lstStyle/>
          <a:p>
            <a:pPr marL="0" indent="0" algn="l">
              <a:buNone/>
            </a:pPr>
            <a:r>
              <a:rPr lang="en-US" sz="1500" dirty="0">
                <a:solidFill>
                  <a:srgbClr val="1D2433"/>
                </a:solidFill>
                <a:latin typeface="Aptos" pitchFamily="34" charset="0"/>
                <a:ea typeface="Aptos" pitchFamily="34" charset="-122"/>
                <a:cs typeface="Aptos" pitchFamily="34" charset="-120"/>
              </a:rPr>
              <a:t>For presentation, the strongest story is: drive-cycle demand creates torque request, Stateflow selects operating mode, torque split commands the plant, and scopes verify the response.</a:t>
            </a:r>
            <a:endParaRPr lang="en-US" sz="1500" dirty="0"/>
          </a:p>
        </p:txBody>
      </p:sp>
      <p:sp>
        <p:nvSpPr>
          <p:cNvPr id="12" name="Text 8"/>
          <p:cNvSpPr/>
          <p:nvPr/>
        </p:nvSpPr>
        <p:spPr>
          <a:xfrm>
            <a:off x="731520" y="4892040"/>
            <a:ext cx="3200400" cy="411480"/>
          </a:xfrm>
          <a:prstGeom prst="rect">
            <a:avLst/>
          </a:prstGeom>
          <a:noFill/>
          <a:ln/>
        </p:spPr>
        <p:txBody>
          <a:bodyPr wrap="square" lIns="0" tIns="0" rIns="0" bIns="0" rtlCol="0" anchor="ctr"/>
          <a:lstStyle/>
          <a:p>
            <a:pPr marL="0" indent="0">
              <a:buNone/>
            </a:pPr>
            <a:r>
              <a:rPr lang="en-US" sz="2800" b="1" dirty="0">
                <a:solidFill>
                  <a:srgbClr val="2A6FBB"/>
                </a:solidFill>
              </a:rPr>
              <a:t>Thank you</a:t>
            </a:r>
            <a:endParaRPr lang="en-US" sz="2800" dirty="0"/>
          </a:p>
        </p:txBody>
      </p:sp>
      <p:sp>
        <p:nvSpPr>
          <p:cNvPr id="13" name="Text 9"/>
          <p:cNvSpPr/>
          <p:nvPr/>
        </p:nvSpPr>
        <p:spPr>
          <a:xfrm>
            <a:off x="749808" y="5440680"/>
            <a:ext cx="2743200" cy="292608"/>
          </a:xfrm>
          <a:prstGeom prst="rect">
            <a:avLst/>
          </a:prstGeom>
          <a:noFill/>
          <a:ln/>
        </p:spPr>
        <p:txBody>
          <a:bodyPr wrap="square" lIns="0" tIns="0" rIns="0" bIns="0" rtlCol="0" anchor="ctr"/>
          <a:lstStyle/>
          <a:p>
            <a:pPr marL="0" indent="0">
              <a:buNone/>
            </a:pPr>
            <a:r>
              <a:rPr lang="en-US" sz="1800" dirty="0">
                <a:solidFill>
                  <a:srgbClr val="5A667A"/>
                </a:solidFill>
              </a:rPr>
              <a:t>Questions?</a:t>
            </a:r>
            <a:endParaRPr lang="en-US" sz="1800" dirty="0"/>
          </a:p>
        </p:txBody>
      </p:sp>
      <p:sp>
        <p:nvSpPr>
          <p:cNvPr id="14" name="Shape 10"/>
          <p:cNvSpPr/>
          <p:nvPr/>
        </p:nvSpPr>
        <p:spPr>
          <a:xfrm>
            <a:off x="502920" y="6565392"/>
            <a:ext cx="11109960" cy="0"/>
          </a:xfrm>
          <a:prstGeom prst="line">
            <a:avLst/>
          </a:prstGeom>
          <a:noFill/>
          <a:ln w="8890">
            <a:solidFill>
              <a:srgbClr val="DDE4EE"/>
            </a:solidFill>
            <a:prstDash val="solid"/>
          </a:ln>
        </p:spPr>
        <p:txBody>
          <a:bodyPr/>
          <a:lstStyle/>
          <a:p>
            <a:endParaRPr/>
          </a:p>
        </p:txBody>
      </p:sp>
      <p:sp>
        <p:nvSpPr>
          <p:cNvPr id="15" name="Text 11"/>
          <p:cNvSpPr/>
          <p:nvPr/>
        </p:nvSpPr>
        <p:spPr>
          <a:xfrm>
            <a:off x="502920" y="6611112"/>
            <a:ext cx="5486400" cy="146304"/>
          </a:xfrm>
          <a:prstGeom prst="rect">
            <a:avLst/>
          </a:prstGeom>
          <a:noFill/>
          <a:ln/>
        </p:spPr>
        <p:txBody>
          <a:bodyPr wrap="square" lIns="0" tIns="0" rIns="0" bIns="0" rtlCol="0" anchor="ctr"/>
          <a:lstStyle/>
          <a:p>
            <a:pPr marL="0" indent="0">
              <a:buNone/>
            </a:pPr>
            <a:r>
              <a:rPr lang="en-US" sz="750" dirty="0">
                <a:solidFill>
                  <a:srgbClr val="697386"/>
                </a:solidFill>
              </a:rPr>
              <a:t>Series-Parallel HEV Model | KPIT Apex Lab</a:t>
            </a:r>
            <a:endParaRPr lang="en-US" sz="750" dirty="0"/>
          </a:p>
        </p:txBody>
      </p:sp>
      <p:sp>
        <p:nvSpPr>
          <p:cNvPr id="16" name="Text 12"/>
          <p:cNvSpPr/>
          <p:nvPr/>
        </p:nvSpPr>
        <p:spPr>
          <a:xfrm>
            <a:off x="11082528" y="6601968"/>
            <a:ext cx="502920" cy="164592"/>
          </a:xfrm>
          <a:prstGeom prst="rect">
            <a:avLst/>
          </a:prstGeom>
          <a:noFill/>
          <a:ln/>
        </p:spPr>
        <p:txBody>
          <a:bodyPr wrap="square" lIns="0" tIns="0" rIns="0" bIns="0" rtlCol="0" anchor="ctr"/>
          <a:lstStyle/>
          <a:p>
            <a:pPr marL="0" indent="0" algn="r">
              <a:buNone/>
            </a:pPr>
            <a:r>
              <a:rPr lang="en-US" sz="750" dirty="0">
                <a:solidFill>
                  <a:srgbClr val="697386"/>
                </a:solidFill>
              </a:rPr>
              <a:t>17</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2486</Words>
  <Application>Microsoft Office PowerPoint</Application>
  <PresentationFormat>Widescreen</PresentationFormat>
  <Paragraphs>240</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Aptos Mono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COEP Technological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Simulation of a Series-Parallel HEV Using MATLAB Simulink and Stateflow</dc:title>
  <dc:subject>HEV Model Presentation</dc:subject>
  <dc:creator>Raj Sawala</dc:creator>
  <cp:lastModifiedBy>RAJ SAWALA</cp:lastModifiedBy>
  <cp:revision>2</cp:revision>
  <dcterms:created xsi:type="dcterms:W3CDTF">2026-07-02T17:27:34Z</dcterms:created>
  <dcterms:modified xsi:type="dcterms:W3CDTF">2026-07-02T17:54:41Z</dcterms:modified>
</cp:coreProperties>
</file>